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EC1001-046D-3E35-E120-C4C5B44DC7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46B9F6-AEFA-5CA8-7B83-A285BF185C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BD36FD-F7E0-4A59-51F4-0D8F252F2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D608A-B9A2-440E-9496-5B802D9F7B7C}" type="datetimeFigureOut">
              <a:rPr lang="nl-NL" smtClean="0"/>
              <a:t>23-6-2026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DDF88D-6F48-D223-0480-51273ADD0C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CFEDAB-D7A8-C67F-EFEC-A5E2B469F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15CFA-45C7-4319-A8C3-726CBB8B6AFD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0226610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31BBB-F15A-C67D-BE56-BBBAE1A679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FB78B0-38FC-105F-4831-FADCEDD97C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065A2D-659A-320D-586E-F0432D40BA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D608A-B9A2-440E-9496-5B802D9F7B7C}" type="datetimeFigureOut">
              <a:rPr lang="nl-NL" smtClean="0"/>
              <a:t>23-6-2026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B5834D-3021-3AC5-8A6F-C4D65464B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BF01D4-2653-99B7-EBCE-6FDE63B36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15CFA-45C7-4319-A8C3-726CBB8B6AFD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493516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F3BB00-4EF2-C9CB-04F7-AB9AAF55B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898A95-1078-7B7D-AA7C-424EE5A915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37D9E8-8D01-FADA-1A8A-A25ACC0FE4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D608A-B9A2-440E-9496-5B802D9F7B7C}" type="datetimeFigureOut">
              <a:rPr lang="nl-NL" smtClean="0"/>
              <a:t>23-6-2026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EE093F-B0CE-4864-D427-36A057D01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1117F4-37FA-42E3-44F6-E94BE5982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15CFA-45C7-4319-A8C3-726CBB8B6AFD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019520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D0E4A-44AB-8BD1-7F09-0FFF6B156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240654-D442-EF04-21F9-AD2C160C9E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92651D-1BE3-A52F-DEB2-37088007B7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CD81D0-B57F-DE89-2EB2-66470049C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D608A-B9A2-440E-9496-5B802D9F7B7C}" type="datetimeFigureOut">
              <a:rPr lang="nl-NL" smtClean="0"/>
              <a:t>23-6-2026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3D4C7C-FC7C-8351-C5C0-650AFA645B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6F7C6C-21B1-4DE9-D9CC-F6AE88E60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15CFA-45C7-4319-A8C3-726CBB8B6AFD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447236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6470B-AB12-460F-2A47-EF528E781B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D969FF-75E0-0A61-3DE9-8EBCA6E709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090BFD-0CB7-37F0-2EA4-4671B50E10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D18FBC7-0FEA-8A3F-E47E-1CD1336615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637A0C8-B8EB-ACE7-3A1E-1EC69BE922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22598AA-C930-AC38-CE06-7CA47901C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D608A-B9A2-440E-9496-5B802D9F7B7C}" type="datetimeFigureOut">
              <a:rPr lang="nl-NL" smtClean="0"/>
              <a:t>23-6-2026</a:t>
            </a:fld>
            <a:endParaRPr lang="nl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31602D5-631C-8C58-29C1-935B88C23C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6F191E8-7831-78AC-7E26-DF2E46A30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15CFA-45C7-4319-A8C3-726CBB8B6AFD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11040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FB5868-C4C7-BC41-521F-5360C96CE5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E5B3B3-379C-59B0-8000-042DCAF22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D608A-B9A2-440E-9496-5B802D9F7B7C}" type="datetimeFigureOut">
              <a:rPr lang="nl-NL" smtClean="0"/>
              <a:t>23-6-2026</a:t>
            </a:fld>
            <a:endParaRPr lang="nl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4333F4-D816-FF04-6275-3755720B2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5AD717-F38F-26AA-5913-382E0051E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15CFA-45C7-4319-A8C3-726CBB8B6AFD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218759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A54F6F-9F9D-9035-4C0E-2B0957AB00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D608A-B9A2-440E-9496-5B802D9F7B7C}" type="datetimeFigureOut">
              <a:rPr lang="nl-NL" smtClean="0"/>
              <a:t>23-6-2026</a:t>
            </a:fld>
            <a:endParaRPr lang="nl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0B15CA-EC49-7C59-44C0-CBF1C5A798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D2317F-2632-10F9-1339-9B69107F7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15CFA-45C7-4319-A8C3-726CBB8B6AFD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756613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A7EAA2-E469-0BD1-DD4C-649ABE1366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B195C0-BCC7-2326-3751-65B6DAA869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AAFBA2-79FF-0552-50B7-8ABA4B22CA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D1DC98-9DB5-5A75-84C4-CE8EE668FD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D608A-B9A2-440E-9496-5B802D9F7B7C}" type="datetimeFigureOut">
              <a:rPr lang="nl-NL" smtClean="0"/>
              <a:t>23-6-2026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503B7E-0453-3D75-483C-B1F74B7FD5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4ACEBC-C9A7-DF97-3CC6-9D9E7CA372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15CFA-45C7-4319-A8C3-726CBB8B6AFD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291294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70964-D987-3FD3-9F72-9D0A0477F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B53659-4D20-62D8-5BF6-C72C53D86B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05F734-237B-5A6B-4445-97304AB37A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3E8418-B716-48F5-36CF-BC0AE9A552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D608A-B9A2-440E-9496-5B802D9F7B7C}" type="datetimeFigureOut">
              <a:rPr lang="nl-NL" smtClean="0"/>
              <a:t>23-6-2026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E4D001-89F6-94D5-7673-3E909F29E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F3DFDF-9743-5BCE-DD58-955470670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15CFA-45C7-4319-A8C3-726CBB8B6AFD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0828965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8C7EE-DD21-2720-8FAB-076DA1C4D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2F14DB-B1DA-3550-BD14-39F60790E7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C870FE-EE32-6803-127A-3CC9C198AF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D608A-B9A2-440E-9496-5B802D9F7B7C}" type="datetimeFigureOut">
              <a:rPr lang="nl-NL" smtClean="0"/>
              <a:t>23-6-2026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CD71C1-CC68-2ACA-4C71-FE2CD16B2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62FE42-6DDA-F95A-CF22-81EADC4D0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15CFA-45C7-4319-A8C3-726CBB8B6AFD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605637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B6C68D1-347C-EFC0-215F-D0031C236B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60650E-3E74-D300-CC0F-CD9B3E8FB5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3B970A-8885-EA55-9808-6667C3EA2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D608A-B9A2-440E-9496-5B802D9F7B7C}" type="datetimeFigureOut">
              <a:rPr lang="nl-NL" smtClean="0"/>
              <a:t>23-6-2026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835832-0B31-2040-9279-054B5D128E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B819A7-0632-F3BC-5013-19A1E9F4D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15CFA-45C7-4319-A8C3-726CBB8B6AFD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161225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B5BA31-7CF5-5C5F-1BB2-447774BA5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7579E7-3044-013A-B3C5-DF015AFB14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4F5818-C323-A5EB-892E-EC4E49578C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DD608A-B9A2-440E-9496-5B802D9F7B7C}" type="datetimeFigureOut">
              <a:rPr lang="nl-NL" smtClean="0"/>
              <a:t>23-6-2026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E5FA76-3771-042A-E8D4-44162C5AF7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78F901-FCA9-70CD-D6B7-698615C9EE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615CFA-45C7-4319-A8C3-726CBB8B6AFD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822084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3D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D427C60-F002-CC0A-D23A-E8ECB66B1693}"/>
              </a:ext>
            </a:extLst>
          </p:cNvPr>
          <p:cNvSpPr txBox="1"/>
          <p:nvPr/>
        </p:nvSpPr>
        <p:spPr>
          <a:xfrm>
            <a:off x="800100" y="1905000"/>
            <a:ext cx="8890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nl-NL" sz="1200" b="1">
                <a:solidFill>
                  <a:srgbClr val="E8B624"/>
                </a:solidFill>
                <a:latin typeface="Segoe UI" panose="020B0502040204020203" pitchFamily="34" charset="0"/>
              </a:rPr>
              <a:t>VOOR SPELERS &amp; OUDERS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33BDFD-4169-D4ED-A310-5C38D8930CA5}"/>
              </a:ext>
            </a:extLst>
          </p:cNvPr>
          <p:cNvSpPr txBox="1"/>
          <p:nvPr/>
        </p:nvSpPr>
        <p:spPr>
          <a:xfrm>
            <a:off x="762000" y="2260600"/>
            <a:ext cx="9652000" cy="83099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nl-NL" sz="5400" b="1">
                <a:solidFill>
                  <a:srgbClr val="FFFFFF"/>
                </a:solidFill>
                <a:latin typeface="Segoe UI" panose="020B0502040204020203" pitchFamily="34" charset="0"/>
              </a:rPr>
              <a:t>TalentTrack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0E19E0-7C5E-EB36-C1CE-1A40D7EAC274}"/>
              </a:ext>
            </a:extLst>
          </p:cNvPr>
          <p:cNvSpPr txBox="1"/>
          <p:nvPr/>
        </p:nvSpPr>
        <p:spPr>
          <a:xfrm>
            <a:off x="800100" y="3403600"/>
            <a:ext cx="5969000" cy="67710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nl-NL" sz="2200" b="1">
                <a:solidFill>
                  <a:srgbClr val="FFFFFF"/>
                </a:solidFill>
                <a:latin typeface="Segoe UI" panose="020B0502040204020203" pitchFamily="34" charset="0"/>
              </a:rPr>
              <a:t>Zo begeleiden we de ontwikkeling van elke speler.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6B7A2E-6387-8D9C-E6B7-9D3B66E4309A}"/>
              </a:ext>
            </a:extLst>
          </p:cNvPr>
          <p:cNvSpPr txBox="1"/>
          <p:nvPr/>
        </p:nvSpPr>
        <p:spPr>
          <a:xfrm>
            <a:off x="800100" y="4292600"/>
            <a:ext cx="7874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nl-NL" sz="1400">
                <a:solidFill>
                  <a:srgbClr val="C8D2CD"/>
                </a:solidFill>
                <a:latin typeface="Segoe UI" panose="020B0502040204020203" pitchFamily="34" charset="0"/>
              </a:rPr>
              <a:t>Een kijkje achter de schermen — wat we volgen, en waarom.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C9C115B-C19D-FFF2-0512-797A02371768}"/>
              </a:ext>
            </a:extLst>
          </p:cNvPr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rgbClr val="E8B62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5437BD-2595-05A1-37F5-4AC5448FEC75}"/>
              </a:ext>
            </a:extLst>
          </p:cNvPr>
          <p:cNvSpPr txBox="1"/>
          <p:nvPr/>
        </p:nvSpPr>
        <p:spPr>
          <a:xfrm>
            <a:off x="800100" y="6553200"/>
            <a:ext cx="635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nl-NL" sz="900">
                <a:solidFill>
                  <a:srgbClr val="C8D2CD"/>
                </a:solidFill>
                <a:latin typeface="Segoe UI" panose="020B0502040204020203" pitchFamily="34" charset="0"/>
              </a:rPr>
              <a:t>TT   Spelersontwikkeling · JG4IT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4F77F8A-46B6-598C-A181-23A8BCB9523C}"/>
              </a:ext>
            </a:extLst>
          </p:cNvPr>
          <p:cNvSpPr txBox="1"/>
          <p:nvPr/>
        </p:nvSpPr>
        <p:spPr>
          <a:xfrm>
            <a:off x="7620000" y="6553200"/>
            <a:ext cx="37719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nl-NL" sz="900">
                <a:solidFill>
                  <a:srgbClr val="C8D2CD"/>
                </a:solidFill>
                <a:latin typeface="Segoe UI" panose="020B0502040204020203" pitchFamily="34" charset="0"/>
              </a:rPr>
              <a:t>seizoen 2026/27</a:t>
            </a:r>
          </a:p>
        </p:txBody>
      </p:sp>
    </p:spTree>
    <p:extLst>
      <p:ext uri="{BB962C8B-B14F-4D97-AF65-F5344CB8AC3E}">
        <p14:creationId xmlns:p14="http://schemas.microsoft.com/office/powerpoint/2010/main" val="33028005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3D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77F730D-6C01-49E7-1C9D-D77ADE0BB234}"/>
              </a:ext>
            </a:extLst>
          </p:cNvPr>
          <p:cNvSpPr txBox="1"/>
          <p:nvPr/>
        </p:nvSpPr>
        <p:spPr>
          <a:xfrm>
            <a:off x="800100" y="457200"/>
            <a:ext cx="10414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nl-NL" sz="1100" b="1">
                <a:solidFill>
                  <a:srgbClr val="E8B624"/>
                </a:solidFill>
                <a:latin typeface="Segoe UI" panose="020B0502040204020203" pitchFamily="34" charset="0"/>
              </a:rPr>
              <a:t>SPELERSONTWIKKELING ALS RODE DRAAD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0C24976-BA17-DAD1-10FD-294388929F95}"/>
              </a:ext>
            </a:extLst>
          </p:cNvPr>
          <p:cNvSpPr txBox="1"/>
          <p:nvPr/>
        </p:nvSpPr>
        <p:spPr>
          <a:xfrm>
            <a:off x="762000" y="711200"/>
            <a:ext cx="10414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nl-NL" sz="3000" b="1">
                <a:solidFill>
                  <a:srgbClr val="FFFFFF"/>
                </a:solidFill>
                <a:latin typeface="Segoe UI" panose="020B0502040204020203" pitchFamily="34" charset="0"/>
              </a:rPr>
              <a:t>De speler staat centraal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01E4A7-53DC-0C94-5B2B-C57E765A4252}"/>
              </a:ext>
            </a:extLst>
          </p:cNvPr>
          <p:cNvSpPr txBox="1"/>
          <p:nvPr/>
        </p:nvSpPr>
        <p:spPr>
          <a:xfrm>
            <a:off x="800100" y="1346200"/>
            <a:ext cx="105410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nl-NL" sz="1300">
                <a:solidFill>
                  <a:srgbClr val="C8D2CD"/>
                </a:solidFill>
                <a:latin typeface="Segoe UI" panose="020B0502040204020203" pitchFamily="34" charset="0"/>
              </a:rPr>
              <a:t>Elke beoordeling, elk doel, elke training en elk gesprek hoort bij één speler — en brengt díe speler verder. Coaches, ouders en gegevens draaien allemaal om de ontwikkeling van het kind.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DFA207E-31D1-EF52-3C96-A9A00B3ECB2B}"/>
              </a:ext>
            </a:extLst>
          </p:cNvPr>
          <p:cNvCxnSpPr/>
          <p:nvPr/>
        </p:nvCxnSpPr>
        <p:spPr>
          <a:xfrm>
            <a:off x="6096000" y="4089400"/>
            <a:ext cx="3810000" cy="25400"/>
          </a:xfrm>
          <a:prstGeom prst="line">
            <a:avLst/>
          </a:prstGeom>
          <a:ln w="19050">
            <a:solidFill>
              <a:srgbClr val="E8B6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9136BBD-BF48-A0EF-FBB3-BBF072BC2387}"/>
              </a:ext>
            </a:extLst>
          </p:cNvPr>
          <p:cNvCxnSpPr/>
          <p:nvPr/>
        </p:nvCxnSpPr>
        <p:spPr>
          <a:xfrm flipV="1">
            <a:off x="6096000" y="2425700"/>
            <a:ext cx="1905000" cy="1663700"/>
          </a:xfrm>
          <a:prstGeom prst="line">
            <a:avLst/>
          </a:prstGeom>
          <a:ln w="19050">
            <a:solidFill>
              <a:srgbClr val="E8B6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B5AE8C5-96B0-9901-544D-54A758C070C9}"/>
              </a:ext>
            </a:extLst>
          </p:cNvPr>
          <p:cNvCxnSpPr/>
          <p:nvPr/>
        </p:nvCxnSpPr>
        <p:spPr>
          <a:xfrm flipH="1" flipV="1">
            <a:off x="4191000" y="2425700"/>
            <a:ext cx="1905000" cy="1663700"/>
          </a:xfrm>
          <a:prstGeom prst="line">
            <a:avLst/>
          </a:prstGeom>
          <a:ln w="19050">
            <a:solidFill>
              <a:srgbClr val="E8B6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7110164-41F8-C3CE-CB44-F6B369D64261}"/>
              </a:ext>
            </a:extLst>
          </p:cNvPr>
          <p:cNvCxnSpPr/>
          <p:nvPr/>
        </p:nvCxnSpPr>
        <p:spPr>
          <a:xfrm flipH="1">
            <a:off x="2286000" y="4089400"/>
            <a:ext cx="3810000" cy="25400"/>
          </a:xfrm>
          <a:prstGeom prst="line">
            <a:avLst/>
          </a:prstGeom>
          <a:ln w="19050">
            <a:solidFill>
              <a:srgbClr val="E8B6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E96C046-5689-46CF-276D-B79A23319D67}"/>
              </a:ext>
            </a:extLst>
          </p:cNvPr>
          <p:cNvCxnSpPr/>
          <p:nvPr/>
        </p:nvCxnSpPr>
        <p:spPr>
          <a:xfrm flipH="1">
            <a:off x="4191000" y="4089400"/>
            <a:ext cx="1905000" cy="1714500"/>
          </a:xfrm>
          <a:prstGeom prst="line">
            <a:avLst/>
          </a:prstGeom>
          <a:ln w="19050">
            <a:solidFill>
              <a:srgbClr val="E8B6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68DAADC-87FB-F175-6F1E-381D6EA932B7}"/>
              </a:ext>
            </a:extLst>
          </p:cNvPr>
          <p:cNvCxnSpPr/>
          <p:nvPr/>
        </p:nvCxnSpPr>
        <p:spPr>
          <a:xfrm>
            <a:off x="6096000" y="4089400"/>
            <a:ext cx="1905000" cy="1714500"/>
          </a:xfrm>
          <a:prstGeom prst="line">
            <a:avLst/>
          </a:prstGeom>
          <a:ln w="19050">
            <a:solidFill>
              <a:srgbClr val="E8B6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F58784D5-FA2F-154E-87D7-209540F7684B}"/>
              </a:ext>
            </a:extLst>
          </p:cNvPr>
          <p:cNvSpPr/>
          <p:nvPr/>
        </p:nvSpPr>
        <p:spPr>
          <a:xfrm>
            <a:off x="5359400" y="3352800"/>
            <a:ext cx="1473200" cy="14732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E8B6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C10AAD7-7C33-4990-96F4-1AF8EE2DF775}"/>
              </a:ext>
            </a:extLst>
          </p:cNvPr>
          <p:cNvSpPr txBox="1"/>
          <p:nvPr/>
        </p:nvSpPr>
        <p:spPr>
          <a:xfrm>
            <a:off x="5384800" y="3708400"/>
            <a:ext cx="1422400" cy="5078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nl-NL" sz="1100" b="1">
                <a:solidFill>
                  <a:srgbClr val="07261C"/>
                </a:solidFill>
                <a:latin typeface="Segoe UI" panose="020B0502040204020203" pitchFamily="34" charset="0"/>
              </a:rPr>
              <a:t>Liam · 14</a:t>
            </a:r>
          </a:p>
          <a:p>
            <a:pPr algn="ctr"/>
            <a:r>
              <a:rPr lang="nl-NL" sz="1100" b="1">
                <a:solidFill>
                  <a:srgbClr val="07261C"/>
                </a:solidFill>
                <a:latin typeface="Segoe UI" panose="020B0502040204020203" pitchFamily="34" charset="0"/>
              </a:rPr>
              <a:t>O15 · aanvaller</a:t>
            </a:r>
          </a:p>
          <a:p>
            <a:pPr algn="ctr"/>
            <a:r>
              <a:rPr lang="nl-NL" sz="1100" b="1">
                <a:solidFill>
                  <a:srgbClr val="07261C"/>
                </a:solidFill>
                <a:latin typeface="Segoe UI" panose="020B0502040204020203" pitchFamily="34" charset="0"/>
              </a:rPr>
              <a:t>in ontwikkeling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19268BD3-1BB6-02AE-5EC9-FDB0DE6307BB}"/>
              </a:ext>
            </a:extLst>
          </p:cNvPr>
          <p:cNvSpPr/>
          <p:nvPr/>
        </p:nvSpPr>
        <p:spPr>
          <a:xfrm>
            <a:off x="8940800" y="3797300"/>
            <a:ext cx="1930400" cy="63500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9525">
            <a:solidFill>
              <a:srgbClr val="E3E6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72F2D11-1995-3A48-F3A0-18C99863DC44}"/>
              </a:ext>
            </a:extLst>
          </p:cNvPr>
          <p:cNvSpPr txBox="1"/>
          <p:nvPr/>
        </p:nvSpPr>
        <p:spPr>
          <a:xfrm>
            <a:off x="9042400" y="3848100"/>
            <a:ext cx="17272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nl-NL" sz="1050" b="1">
                <a:solidFill>
                  <a:srgbClr val="07261C"/>
                </a:solidFill>
                <a:latin typeface="Segoe UI" panose="020B0502040204020203" pitchFamily="34" charset="0"/>
              </a:rPr>
              <a:t>Beoordelingen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81EE01C-84C0-CCFF-6E9A-680BECEA7E8B}"/>
              </a:ext>
            </a:extLst>
          </p:cNvPr>
          <p:cNvSpPr txBox="1"/>
          <p:nvPr/>
        </p:nvSpPr>
        <p:spPr>
          <a:xfrm>
            <a:off x="9042400" y="4076700"/>
            <a:ext cx="17272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nl-NL" sz="800">
                <a:solidFill>
                  <a:srgbClr val="5A636A"/>
                </a:solidFill>
                <a:latin typeface="Segoe UI" panose="020B0502040204020203" pitchFamily="34" charset="0"/>
              </a:rPr>
              <a:t>Technisch · tactisch · fysiek · mentaal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F7B5C78C-5A15-EC2C-AB6D-CEA047B70D74}"/>
              </a:ext>
            </a:extLst>
          </p:cNvPr>
          <p:cNvSpPr/>
          <p:nvPr/>
        </p:nvSpPr>
        <p:spPr>
          <a:xfrm>
            <a:off x="7035800" y="2108200"/>
            <a:ext cx="1930400" cy="63500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9525">
            <a:solidFill>
              <a:srgbClr val="E3E6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BEB0CC0-230D-AE64-F097-73ECC9CF346E}"/>
              </a:ext>
            </a:extLst>
          </p:cNvPr>
          <p:cNvSpPr txBox="1"/>
          <p:nvPr/>
        </p:nvSpPr>
        <p:spPr>
          <a:xfrm>
            <a:off x="7137400" y="2159000"/>
            <a:ext cx="17272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nl-NL" sz="1050" b="1">
                <a:solidFill>
                  <a:srgbClr val="07261C"/>
                </a:solidFill>
                <a:latin typeface="Segoe UI" panose="020B0502040204020203" pitchFamily="34" charset="0"/>
              </a:rPr>
              <a:t>Doelen &amp; POP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FB0661E-D275-4810-EAFD-BA4C81524042}"/>
              </a:ext>
            </a:extLst>
          </p:cNvPr>
          <p:cNvSpPr txBox="1"/>
          <p:nvPr/>
        </p:nvSpPr>
        <p:spPr>
          <a:xfrm>
            <a:off x="7137400" y="2387600"/>
            <a:ext cx="17272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nl-NL" sz="800">
                <a:solidFill>
                  <a:srgbClr val="5A636A"/>
                </a:solidFill>
                <a:latin typeface="Segoe UI" panose="020B0502040204020203" pitchFamily="34" charset="0"/>
              </a:rPr>
              <a:t>Wat hij leert, onderbouwd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EF7D1924-100F-8A87-AF52-50C7F2FAA81C}"/>
              </a:ext>
            </a:extLst>
          </p:cNvPr>
          <p:cNvSpPr/>
          <p:nvPr/>
        </p:nvSpPr>
        <p:spPr>
          <a:xfrm>
            <a:off x="3225800" y="2108200"/>
            <a:ext cx="1930400" cy="63500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9525">
            <a:solidFill>
              <a:srgbClr val="E3E6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A6438EA-D8DA-3271-04C6-2C730AC181F6}"/>
              </a:ext>
            </a:extLst>
          </p:cNvPr>
          <p:cNvSpPr txBox="1"/>
          <p:nvPr/>
        </p:nvSpPr>
        <p:spPr>
          <a:xfrm>
            <a:off x="3327400" y="2159000"/>
            <a:ext cx="17272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nl-NL" sz="1050" b="1">
                <a:solidFill>
                  <a:srgbClr val="07261C"/>
                </a:solidFill>
                <a:latin typeface="Segoe UI" panose="020B0502040204020203" pitchFamily="34" charset="0"/>
              </a:rPr>
              <a:t>Training &amp; methodiek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CAE7D34-0B2A-4A64-8C4D-22C8B6B2253A}"/>
              </a:ext>
            </a:extLst>
          </p:cNvPr>
          <p:cNvSpPr txBox="1"/>
          <p:nvPr/>
        </p:nvSpPr>
        <p:spPr>
          <a:xfrm>
            <a:off x="3327400" y="2387600"/>
            <a:ext cx="17272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nl-NL" sz="800">
                <a:solidFill>
                  <a:srgbClr val="5A636A"/>
                </a:solidFill>
                <a:latin typeface="Segoe UI" panose="020B0502040204020203" pitchFamily="34" charset="0"/>
              </a:rPr>
              <a:t>Met een duidelijke bedoeling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B5496A8B-CD33-DB8F-117A-6EBCB4D338E8}"/>
              </a:ext>
            </a:extLst>
          </p:cNvPr>
          <p:cNvSpPr/>
          <p:nvPr/>
        </p:nvSpPr>
        <p:spPr>
          <a:xfrm>
            <a:off x="1320800" y="3797300"/>
            <a:ext cx="1930400" cy="63500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9525">
            <a:solidFill>
              <a:srgbClr val="E3E6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6764B0B-90DE-AE53-79F0-8E22D6D13E95}"/>
              </a:ext>
            </a:extLst>
          </p:cNvPr>
          <p:cNvSpPr txBox="1"/>
          <p:nvPr/>
        </p:nvSpPr>
        <p:spPr>
          <a:xfrm>
            <a:off x="1422400" y="3848100"/>
            <a:ext cx="17272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nl-NL" sz="1050" b="1">
                <a:solidFill>
                  <a:srgbClr val="07261C"/>
                </a:solidFill>
                <a:latin typeface="Segoe UI" panose="020B0502040204020203" pitchFamily="34" charset="0"/>
              </a:rPr>
              <a:t>Wedstrijd &amp; minuten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39B202E-A2DE-2F06-A818-3717140B4140}"/>
              </a:ext>
            </a:extLst>
          </p:cNvPr>
          <p:cNvSpPr txBox="1"/>
          <p:nvPr/>
        </p:nvSpPr>
        <p:spPr>
          <a:xfrm>
            <a:off x="1422400" y="4076700"/>
            <a:ext cx="17272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nl-NL" sz="800">
                <a:solidFill>
                  <a:srgbClr val="5A636A"/>
                </a:solidFill>
                <a:latin typeface="Segoe UI" panose="020B0502040204020203" pitchFamily="34" charset="0"/>
              </a:rPr>
              <a:t>Momenten die meetellen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BF915C43-80BD-2612-BC70-495558CA11E9}"/>
              </a:ext>
            </a:extLst>
          </p:cNvPr>
          <p:cNvSpPr/>
          <p:nvPr/>
        </p:nvSpPr>
        <p:spPr>
          <a:xfrm>
            <a:off x="3225800" y="5486400"/>
            <a:ext cx="1930400" cy="63500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9525">
            <a:solidFill>
              <a:srgbClr val="E3E6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D57009C-1251-A361-DACE-0B98A061A84B}"/>
              </a:ext>
            </a:extLst>
          </p:cNvPr>
          <p:cNvSpPr txBox="1"/>
          <p:nvPr/>
        </p:nvSpPr>
        <p:spPr>
          <a:xfrm>
            <a:off x="3327400" y="5537200"/>
            <a:ext cx="17272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nl-NL" sz="1050" b="1">
                <a:solidFill>
                  <a:srgbClr val="07261C"/>
                </a:solidFill>
                <a:latin typeface="Segoe UI" panose="020B0502040204020203" pitchFamily="34" charset="0"/>
              </a:rPr>
              <a:t>Scouting &amp; instroom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C91BE06-4697-B61B-9829-D37297D57E07}"/>
              </a:ext>
            </a:extLst>
          </p:cNvPr>
          <p:cNvSpPr txBox="1"/>
          <p:nvPr/>
        </p:nvSpPr>
        <p:spPr>
          <a:xfrm>
            <a:off x="3327400" y="5765800"/>
            <a:ext cx="17272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nl-NL" sz="800">
                <a:solidFill>
                  <a:srgbClr val="5A636A"/>
                </a:solidFill>
                <a:latin typeface="Segoe UI" panose="020B0502040204020203" pitchFamily="34" charset="0"/>
              </a:rPr>
              <a:t>Waar de reis begint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9CFCB866-1AE5-4C26-D0C6-1B7101E15C51}"/>
              </a:ext>
            </a:extLst>
          </p:cNvPr>
          <p:cNvSpPr/>
          <p:nvPr/>
        </p:nvSpPr>
        <p:spPr>
          <a:xfrm>
            <a:off x="7035800" y="5486400"/>
            <a:ext cx="1930400" cy="63500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9525">
            <a:solidFill>
              <a:srgbClr val="E3E6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D20EA37-4423-D94B-6B07-9E38E394EF1C}"/>
              </a:ext>
            </a:extLst>
          </p:cNvPr>
          <p:cNvSpPr txBox="1"/>
          <p:nvPr/>
        </p:nvSpPr>
        <p:spPr>
          <a:xfrm>
            <a:off x="7137400" y="5537200"/>
            <a:ext cx="17272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nl-NL" sz="1050" b="1">
                <a:solidFill>
                  <a:srgbClr val="07261C"/>
                </a:solidFill>
                <a:latin typeface="Segoe UI" panose="020B0502040204020203" pitchFamily="34" charset="0"/>
              </a:rPr>
              <a:t>Coach, ouder &amp; staf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20480FD-6A58-01DE-49A5-31EFFEB709CC}"/>
              </a:ext>
            </a:extLst>
          </p:cNvPr>
          <p:cNvSpPr txBox="1"/>
          <p:nvPr/>
        </p:nvSpPr>
        <p:spPr>
          <a:xfrm>
            <a:off x="7137400" y="5765800"/>
            <a:ext cx="17272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nl-NL" sz="800">
                <a:solidFill>
                  <a:srgbClr val="5A636A"/>
                </a:solidFill>
                <a:latin typeface="Segoe UI" panose="020B0502040204020203" pitchFamily="34" charset="0"/>
              </a:rPr>
              <a:t>Iedereen ziet hetzelfde kind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D7E436D-C56B-C75B-60CB-D2CAEB1890C8}"/>
              </a:ext>
            </a:extLst>
          </p:cNvPr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rgbClr val="E8B62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555314E-22A3-6495-04C2-55B1E69D25E1}"/>
              </a:ext>
            </a:extLst>
          </p:cNvPr>
          <p:cNvSpPr txBox="1"/>
          <p:nvPr/>
        </p:nvSpPr>
        <p:spPr>
          <a:xfrm>
            <a:off x="800100" y="6553200"/>
            <a:ext cx="635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nl-NL" sz="900">
                <a:solidFill>
                  <a:srgbClr val="C8D2CD"/>
                </a:solidFill>
                <a:latin typeface="Segoe UI" panose="020B0502040204020203" pitchFamily="34" charset="0"/>
              </a:rPr>
              <a:t>TT   Spelersontwikkeling · JG4IT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0BB2C82-28B6-190C-92A5-7EB1168C43AD}"/>
              </a:ext>
            </a:extLst>
          </p:cNvPr>
          <p:cNvSpPr txBox="1"/>
          <p:nvPr/>
        </p:nvSpPr>
        <p:spPr>
          <a:xfrm>
            <a:off x="7620000" y="6553200"/>
            <a:ext cx="37719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nl-NL" sz="900">
                <a:solidFill>
                  <a:srgbClr val="C8D2CD"/>
                </a:solidFill>
                <a:latin typeface="Segoe UI" panose="020B0502040204020203" pitchFamily="34" charset="0"/>
              </a:rPr>
              <a:t>variant A</a:t>
            </a:r>
          </a:p>
        </p:txBody>
      </p:sp>
    </p:spTree>
    <p:extLst>
      <p:ext uri="{BB962C8B-B14F-4D97-AF65-F5344CB8AC3E}">
        <p14:creationId xmlns:p14="http://schemas.microsoft.com/office/powerpoint/2010/main" val="23057636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3D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007F818-9033-1C1D-2C5C-40616E09C96D}"/>
              </a:ext>
            </a:extLst>
          </p:cNvPr>
          <p:cNvSpPr txBox="1"/>
          <p:nvPr/>
        </p:nvSpPr>
        <p:spPr>
          <a:xfrm>
            <a:off x="800100" y="457200"/>
            <a:ext cx="10414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nl-NL" sz="1100" b="1">
                <a:solidFill>
                  <a:srgbClr val="E8B624"/>
                </a:solidFill>
                <a:latin typeface="Segoe UI" panose="020B0502040204020203" pitchFamily="34" charset="0"/>
              </a:rPr>
              <a:t>SPELERSONTWIKKELING ALS RODE DRAAD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E522F7-1D31-2D33-EC77-E1C0D3846922}"/>
              </a:ext>
            </a:extLst>
          </p:cNvPr>
          <p:cNvSpPr txBox="1"/>
          <p:nvPr/>
        </p:nvSpPr>
        <p:spPr>
          <a:xfrm>
            <a:off x="762000" y="711200"/>
            <a:ext cx="10414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nl-NL" sz="3000" b="1">
                <a:solidFill>
                  <a:srgbClr val="FFFFFF"/>
                </a:solidFill>
                <a:latin typeface="Segoe UI" panose="020B0502040204020203" pitchFamily="34" charset="0"/>
              </a:rPr>
              <a:t>De speler staat centraal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202299-1155-5B57-75BB-FA658C015410}"/>
              </a:ext>
            </a:extLst>
          </p:cNvPr>
          <p:cNvSpPr txBox="1"/>
          <p:nvPr/>
        </p:nvSpPr>
        <p:spPr>
          <a:xfrm>
            <a:off x="800100" y="1346200"/>
            <a:ext cx="105410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nl-NL" sz="1300">
                <a:solidFill>
                  <a:srgbClr val="C8D2CD"/>
                </a:solidFill>
                <a:latin typeface="Segoe UI" panose="020B0502040204020203" pitchFamily="34" charset="0"/>
              </a:rPr>
              <a:t>Elke beoordeling, elk doel, elke training en elk gesprek hoort bij één speler — en brengt díe speler verder. Coaches, ouders en gegevens draaien allemaal om de ontwikkeling van het kind.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5B65F56-D239-2A86-7030-B07788470ACD}"/>
              </a:ext>
            </a:extLst>
          </p:cNvPr>
          <p:cNvCxnSpPr/>
          <p:nvPr/>
        </p:nvCxnSpPr>
        <p:spPr>
          <a:xfrm>
            <a:off x="6096000" y="4089400"/>
            <a:ext cx="3810000" cy="25400"/>
          </a:xfrm>
          <a:prstGeom prst="line">
            <a:avLst/>
          </a:prstGeom>
          <a:ln w="19050">
            <a:solidFill>
              <a:srgbClr val="E8B6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ABBA302-7B06-1662-7A1B-EECAE5F953A7}"/>
              </a:ext>
            </a:extLst>
          </p:cNvPr>
          <p:cNvCxnSpPr/>
          <p:nvPr/>
        </p:nvCxnSpPr>
        <p:spPr>
          <a:xfrm flipV="1">
            <a:off x="6096000" y="2425700"/>
            <a:ext cx="1905000" cy="1663700"/>
          </a:xfrm>
          <a:prstGeom prst="line">
            <a:avLst/>
          </a:prstGeom>
          <a:ln w="19050">
            <a:solidFill>
              <a:srgbClr val="E8B6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8FD842D-3235-63BD-BC0D-F11C81ACA7A3}"/>
              </a:ext>
            </a:extLst>
          </p:cNvPr>
          <p:cNvCxnSpPr/>
          <p:nvPr/>
        </p:nvCxnSpPr>
        <p:spPr>
          <a:xfrm flipH="1" flipV="1">
            <a:off x="4191000" y="2425700"/>
            <a:ext cx="1905000" cy="1663700"/>
          </a:xfrm>
          <a:prstGeom prst="line">
            <a:avLst/>
          </a:prstGeom>
          <a:ln w="19050">
            <a:solidFill>
              <a:srgbClr val="E8B6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A3A1380-E14A-B797-815C-56E976099763}"/>
              </a:ext>
            </a:extLst>
          </p:cNvPr>
          <p:cNvCxnSpPr/>
          <p:nvPr/>
        </p:nvCxnSpPr>
        <p:spPr>
          <a:xfrm flipH="1">
            <a:off x="2286000" y="4089400"/>
            <a:ext cx="3810000" cy="25400"/>
          </a:xfrm>
          <a:prstGeom prst="line">
            <a:avLst/>
          </a:prstGeom>
          <a:ln w="19050">
            <a:solidFill>
              <a:srgbClr val="E8B6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AC45949-7A22-96DF-46C3-4248FAC599B4}"/>
              </a:ext>
            </a:extLst>
          </p:cNvPr>
          <p:cNvCxnSpPr/>
          <p:nvPr/>
        </p:nvCxnSpPr>
        <p:spPr>
          <a:xfrm flipH="1">
            <a:off x="4191000" y="4089400"/>
            <a:ext cx="1905000" cy="1714500"/>
          </a:xfrm>
          <a:prstGeom prst="line">
            <a:avLst/>
          </a:prstGeom>
          <a:ln w="19050">
            <a:solidFill>
              <a:srgbClr val="E8B6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A714E74-1C25-D74D-D682-1066183D31EC}"/>
              </a:ext>
            </a:extLst>
          </p:cNvPr>
          <p:cNvCxnSpPr/>
          <p:nvPr/>
        </p:nvCxnSpPr>
        <p:spPr>
          <a:xfrm>
            <a:off x="6096000" y="4089400"/>
            <a:ext cx="1905000" cy="1714500"/>
          </a:xfrm>
          <a:prstGeom prst="line">
            <a:avLst/>
          </a:prstGeom>
          <a:ln w="19050">
            <a:solidFill>
              <a:srgbClr val="E8B6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AC74F573-8E92-F8A4-5CBC-2B0AFD789D14}"/>
              </a:ext>
            </a:extLst>
          </p:cNvPr>
          <p:cNvSpPr/>
          <p:nvPr/>
        </p:nvSpPr>
        <p:spPr>
          <a:xfrm>
            <a:off x="5359400" y="3352800"/>
            <a:ext cx="1473200" cy="14732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E8B6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8585FA2-A648-3563-8CFC-3F32A03EEF4F}"/>
              </a:ext>
            </a:extLst>
          </p:cNvPr>
          <p:cNvSpPr txBox="1"/>
          <p:nvPr/>
        </p:nvSpPr>
        <p:spPr>
          <a:xfrm>
            <a:off x="5384800" y="3708400"/>
            <a:ext cx="1422400" cy="5078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nl-NL" sz="1100" b="1">
                <a:solidFill>
                  <a:srgbClr val="07261C"/>
                </a:solidFill>
                <a:latin typeface="Segoe UI" panose="020B0502040204020203" pitchFamily="34" charset="0"/>
              </a:rPr>
              <a:t>Liam · 14</a:t>
            </a:r>
          </a:p>
          <a:p>
            <a:pPr algn="ctr"/>
            <a:r>
              <a:rPr lang="nl-NL" sz="1100" b="1">
                <a:solidFill>
                  <a:srgbClr val="07261C"/>
                </a:solidFill>
                <a:latin typeface="Segoe UI" panose="020B0502040204020203" pitchFamily="34" charset="0"/>
              </a:rPr>
              <a:t>O15 · aanvaller</a:t>
            </a:r>
          </a:p>
          <a:p>
            <a:pPr algn="ctr"/>
            <a:r>
              <a:rPr lang="nl-NL" sz="1100" b="1">
                <a:solidFill>
                  <a:srgbClr val="07261C"/>
                </a:solidFill>
                <a:latin typeface="Segoe UI" panose="020B0502040204020203" pitchFamily="34" charset="0"/>
              </a:rPr>
              <a:t>OVR 74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83F7146-5C81-2AD1-8DD8-F88E4E9D5BAC}"/>
              </a:ext>
            </a:extLst>
          </p:cNvPr>
          <p:cNvSpPr/>
          <p:nvPr/>
        </p:nvSpPr>
        <p:spPr>
          <a:xfrm>
            <a:off x="8940800" y="3797300"/>
            <a:ext cx="1930400" cy="63500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9525">
            <a:solidFill>
              <a:srgbClr val="E3E6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CF4B255-B0BA-57A9-7690-AC38D5729BC7}"/>
              </a:ext>
            </a:extLst>
          </p:cNvPr>
          <p:cNvSpPr txBox="1"/>
          <p:nvPr/>
        </p:nvSpPr>
        <p:spPr>
          <a:xfrm>
            <a:off x="9042400" y="3848100"/>
            <a:ext cx="17272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nl-NL" sz="1050" b="1">
                <a:solidFill>
                  <a:srgbClr val="07261C"/>
                </a:solidFill>
                <a:latin typeface="Segoe UI" panose="020B0502040204020203" pitchFamily="34" charset="0"/>
              </a:rPr>
              <a:t>Beoordelingen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A7D6AA1-6AA9-18D9-875F-D7ABED10F077}"/>
              </a:ext>
            </a:extLst>
          </p:cNvPr>
          <p:cNvSpPr txBox="1"/>
          <p:nvPr/>
        </p:nvSpPr>
        <p:spPr>
          <a:xfrm>
            <a:off x="9042400" y="4076700"/>
            <a:ext cx="17272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nl-NL" sz="800">
                <a:solidFill>
                  <a:srgbClr val="5A636A"/>
                </a:solidFill>
                <a:latin typeface="Segoe UI" panose="020B0502040204020203" pitchFamily="34" charset="0"/>
              </a:rPr>
              <a:t>Technisch · tactisch · fysiek · mentaal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2DC9E48D-8E10-58A6-6116-38C97C37233F}"/>
              </a:ext>
            </a:extLst>
          </p:cNvPr>
          <p:cNvSpPr/>
          <p:nvPr/>
        </p:nvSpPr>
        <p:spPr>
          <a:xfrm>
            <a:off x="7035800" y="2108200"/>
            <a:ext cx="1930400" cy="63500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9525">
            <a:solidFill>
              <a:srgbClr val="E3E6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93BBEA1-9D0D-A1F7-FDFC-F57FDA118FC4}"/>
              </a:ext>
            </a:extLst>
          </p:cNvPr>
          <p:cNvSpPr txBox="1"/>
          <p:nvPr/>
        </p:nvSpPr>
        <p:spPr>
          <a:xfrm>
            <a:off x="7137400" y="2159000"/>
            <a:ext cx="17272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nl-NL" sz="1050" b="1">
                <a:solidFill>
                  <a:srgbClr val="07261C"/>
                </a:solidFill>
                <a:latin typeface="Segoe UI" panose="020B0502040204020203" pitchFamily="34" charset="0"/>
              </a:rPr>
              <a:t>Doelen &amp; POP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51F9801-20DC-9591-C927-C58C5778135D}"/>
              </a:ext>
            </a:extLst>
          </p:cNvPr>
          <p:cNvSpPr txBox="1"/>
          <p:nvPr/>
        </p:nvSpPr>
        <p:spPr>
          <a:xfrm>
            <a:off x="7137400" y="2387600"/>
            <a:ext cx="17272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nl-NL" sz="800">
                <a:solidFill>
                  <a:srgbClr val="5A636A"/>
                </a:solidFill>
                <a:latin typeface="Segoe UI" panose="020B0502040204020203" pitchFamily="34" charset="0"/>
              </a:rPr>
              <a:t>Wat hij leert, onderbouwd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A68DFB54-BA39-06A0-B100-025E32B6C63F}"/>
              </a:ext>
            </a:extLst>
          </p:cNvPr>
          <p:cNvSpPr/>
          <p:nvPr/>
        </p:nvSpPr>
        <p:spPr>
          <a:xfrm>
            <a:off x="3225800" y="2108200"/>
            <a:ext cx="1930400" cy="63500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9525">
            <a:solidFill>
              <a:srgbClr val="E3E6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6BD7B08-9424-5785-0591-1F044AE7CF45}"/>
              </a:ext>
            </a:extLst>
          </p:cNvPr>
          <p:cNvSpPr txBox="1"/>
          <p:nvPr/>
        </p:nvSpPr>
        <p:spPr>
          <a:xfrm>
            <a:off x="3327400" y="2159000"/>
            <a:ext cx="17272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nl-NL" sz="1050" b="1">
                <a:solidFill>
                  <a:srgbClr val="07261C"/>
                </a:solidFill>
                <a:latin typeface="Segoe UI" panose="020B0502040204020203" pitchFamily="34" charset="0"/>
              </a:rPr>
              <a:t>Training &amp; methodiek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E93333C-BAAC-CEDE-32B1-FCF36A124810}"/>
              </a:ext>
            </a:extLst>
          </p:cNvPr>
          <p:cNvSpPr txBox="1"/>
          <p:nvPr/>
        </p:nvSpPr>
        <p:spPr>
          <a:xfrm>
            <a:off x="3327400" y="2387600"/>
            <a:ext cx="17272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nl-NL" sz="800">
                <a:solidFill>
                  <a:srgbClr val="5A636A"/>
                </a:solidFill>
                <a:latin typeface="Segoe UI" panose="020B0502040204020203" pitchFamily="34" charset="0"/>
              </a:rPr>
              <a:t>Met een duidelijke bedoeling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DCD2FDDD-4605-57E0-C8B6-0851A56C1F74}"/>
              </a:ext>
            </a:extLst>
          </p:cNvPr>
          <p:cNvSpPr/>
          <p:nvPr/>
        </p:nvSpPr>
        <p:spPr>
          <a:xfrm>
            <a:off x="1320800" y="3797300"/>
            <a:ext cx="1930400" cy="63500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9525">
            <a:solidFill>
              <a:srgbClr val="E3E6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5E1D6A8-B5D0-C946-3E1F-56BACCA621CB}"/>
              </a:ext>
            </a:extLst>
          </p:cNvPr>
          <p:cNvSpPr txBox="1"/>
          <p:nvPr/>
        </p:nvSpPr>
        <p:spPr>
          <a:xfrm>
            <a:off x="1422400" y="3848100"/>
            <a:ext cx="17272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nl-NL" sz="1050" b="1">
                <a:solidFill>
                  <a:srgbClr val="07261C"/>
                </a:solidFill>
                <a:latin typeface="Segoe UI" panose="020B0502040204020203" pitchFamily="34" charset="0"/>
              </a:rPr>
              <a:t>Wedstrijd &amp; minuten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BEBD215-7EDF-3E79-EFD4-4F986940F097}"/>
              </a:ext>
            </a:extLst>
          </p:cNvPr>
          <p:cNvSpPr txBox="1"/>
          <p:nvPr/>
        </p:nvSpPr>
        <p:spPr>
          <a:xfrm>
            <a:off x="1422400" y="4076700"/>
            <a:ext cx="17272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nl-NL" sz="800">
                <a:solidFill>
                  <a:srgbClr val="5A636A"/>
                </a:solidFill>
                <a:latin typeface="Segoe UI" panose="020B0502040204020203" pitchFamily="34" charset="0"/>
              </a:rPr>
              <a:t>Momenten die meetellen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69B86F84-D504-0F90-6564-01039C4DF471}"/>
              </a:ext>
            </a:extLst>
          </p:cNvPr>
          <p:cNvSpPr/>
          <p:nvPr/>
        </p:nvSpPr>
        <p:spPr>
          <a:xfrm>
            <a:off x="3225800" y="5486400"/>
            <a:ext cx="1930400" cy="63500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9525">
            <a:solidFill>
              <a:srgbClr val="E3E6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35E8262-B728-A187-F969-52BC650C9CE3}"/>
              </a:ext>
            </a:extLst>
          </p:cNvPr>
          <p:cNvSpPr txBox="1"/>
          <p:nvPr/>
        </p:nvSpPr>
        <p:spPr>
          <a:xfrm>
            <a:off x="3327400" y="5537200"/>
            <a:ext cx="17272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nl-NL" sz="1050" b="1">
                <a:solidFill>
                  <a:srgbClr val="07261C"/>
                </a:solidFill>
                <a:latin typeface="Segoe UI" panose="020B0502040204020203" pitchFamily="34" charset="0"/>
              </a:rPr>
              <a:t>Scouting &amp; instroom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A63EB6D-97EF-9425-14D0-67A9A4A8E7DE}"/>
              </a:ext>
            </a:extLst>
          </p:cNvPr>
          <p:cNvSpPr txBox="1"/>
          <p:nvPr/>
        </p:nvSpPr>
        <p:spPr>
          <a:xfrm>
            <a:off x="3327400" y="5765800"/>
            <a:ext cx="17272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nl-NL" sz="800">
                <a:solidFill>
                  <a:srgbClr val="5A636A"/>
                </a:solidFill>
                <a:latin typeface="Segoe UI" panose="020B0502040204020203" pitchFamily="34" charset="0"/>
              </a:rPr>
              <a:t>Waar de reis begint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D42DD80C-2F48-2180-7709-810411F4ED3C}"/>
              </a:ext>
            </a:extLst>
          </p:cNvPr>
          <p:cNvSpPr/>
          <p:nvPr/>
        </p:nvSpPr>
        <p:spPr>
          <a:xfrm>
            <a:off x="7035800" y="5486400"/>
            <a:ext cx="1930400" cy="63500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9525">
            <a:solidFill>
              <a:srgbClr val="E3E6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43FBAAF-5DDD-7446-B3CC-25BB83BBDB71}"/>
              </a:ext>
            </a:extLst>
          </p:cNvPr>
          <p:cNvSpPr txBox="1"/>
          <p:nvPr/>
        </p:nvSpPr>
        <p:spPr>
          <a:xfrm>
            <a:off x="7137400" y="5537200"/>
            <a:ext cx="17272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nl-NL" sz="1050" b="1">
                <a:solidFill>
                  <a:srgbClr val="07261C"/>
                </a:solidFill>
                <a:latin typeface="Segoe UI" panose="020B0502040204020203" pitchFamily="34" charset="0"/>
              </a:rPr>
              <a:t>Coach, ouder &amp; staf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0BABCC0-99AC-181C-1167-91B3470346A3}"/>
              </a:ext>
            </a:extLst>
          </p:cNvPr>
          <p:cNvSpPr txBox="1"/>
          <p:nvPr/>
        </p:nvSpPr>
        <p:spPr>
          <a:xfrm>
            <a:off x="7137400" y="5765800"/>
            <a:ext cx="17272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nl-NL" sz="800">
                <a:solidFill>
                  <a:srgbClr val="5A636A"/>
                </a:solidFill>
                <a:latin typeface="Segoe UI" panose="020B0502040204020203" pitchFamily="34" charset="0"/>
              </a:rPr>
              <a:t>Iedereen ziet hetzelfde kind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FD67BE1-EC5C-808E-07D6-F3C805AF0134}"/>
              </a:ext>
            </a:extLst>
          </p:cNvPr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rgbClr val="E8B62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1A20EB9-D79D-1963-7CD7-A424C4028C49}"/>
              </a:ext>
            </a:extLst>
          </p:cNvPr>
          <p:cNvSpPr txBox="1"/>
          <p:nvPr/>
        </p:nvSpPr>
        <p:spPr>
          <a:xfrm>
            <a:off x="800100" y="6553200"/>
            <a:ext cx="635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nl-NL" sz="900">
                <a:solidFill>
                  <a:srgbClr val="C8D2CD"/>
                </a:solidFill>
                <a:latin typeface="Segoe UI" panose="020B0502040204020203" pitchFamily="34" charset="0"/>
              </a:rPr>
              <a:t>TT   Spelersontwikkeling · JG4IT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1A85E0C-6F30-23ED-D495-8C92A9EE800B}"/>
              </a:ext>
            </a:extLst>
          </p:cNvPr>
          <p:cNvSpPr txBox="1"/>
          <p:nvPr/>
        </p:nvSpPr>
        <p:spPr>
          <a:xfrm>
            <a:off x="7620000" y="6553200"/>
            <a:ext cx="37719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nl-NL" sz="900">
                <a:solidFill>
                  <a:srgbClr val="C8D2CD"/>
                </a:solidFill>
                <a:latin typeface="Segoe UI" panose="020B0502040204020203" pitchFamily="34" charset="0"/>
              </a:rPr>
              <a:t>variant B</a:t>
            </a:r>
          </a:p>
        </p:txBody>
      </p:sp>
    </p:spTree>
    <p:extLst>
      <p:ext uri="{BB962C8B-B14F-4D97-AF65-F5344CB8AC3E}">
        <p14:creationId xmlns:p14="http://schemas.microsoft.com/office/powerpoint/2010/main" val="39450634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F0FE018-BE46-BC0B-E8D8-C85154D2CC87}"/>
              </a:ext>
            </a:extLst>
          </p:cNvPr>
          <p:cNvSpPr txBox="1"/>
          <p:nvPr/>
        </p:nvSpPr>
        <p:spPr>
          <a:xfrm>
            <a:off x="800100" y="558800"/>
            <a:ext cx="8890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nl-NL" sz="1100" b="1">
                <a:solidFill>
                  <a:srgbClr val="145A44"/>
                </a:solidFill>
                <a:latin typeface="Segoe UI" panose="020B0502040204020203" pitchFamily="34" charset="0"/>
              </a:rPr>
              <a:t>DE RODE DRAAD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46CFF7F-655B-2E44-E062-EB1DD982A0CA}"/>
              </a:ext>
            </a:extLst>
          </p:cNvPr>
          <p:cNvSpPr txBox="1"/>
          <p:nvPr/>
        </p:nvSpPr>
        <p:spPr>
          <a:xfrm>
            <a:off x="762000" y="812800"/>
            <a:ext cx="104140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nl-NL" sz="3200" b="1">
                <a:solidFill>
                  <a:srgbClr val="07261C"/>
                </a:solidFill>
                <a:latin typeface="Segoe UI" panose="020B0502040204020203" pitchFamily="34" charset="0"/>
              </a:rPr>
              <a:t>Eén speler, één verhaal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6D4A8C-8911-2897-1555-172760FB03C4}"/>
              </a:ext>
            </a:extLst>
          </p:cNvPr>
          <p:cNvSpPr txBox="1"/>
          <p:nvPr/>
        </p:nvSpPr>
        <p:spPr>
          <a:xfrm>
            <a:off x="800100" y="1473200"/>
            <a:ext cx="97790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nl-NL" sz="1300">
                <a:solidFill>
                  <a:srgbClr val="5A636A"/>
                </a:solidFill>
                <a:latin typeface="Segoe UI" panose="020B0502040204020203" pitchFamily="34" charset="0"/>
              </a:rPr>
              <a:t>Alles wat we doen draait om de reis van één speler door de academie — van eerste training tot volgende stap. Dit is het verhaal van Liam.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A9410B4-34AC-6D03-934A-687879334FE8}"/>
              </a:ext>
            </a:extLst>
          </p:cNvPr>
          <p:cNvSpPr/>
          <p:nvPr/>
        </p:nvSpPr>
        <p:spPr>
          <a:xfrm>
            <a:off x="800100" y="2133600"/>
            <a:ext cx="5969000" cy="71120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9525">
            <a:solidFill>
              <a:srgbClr val="E3E6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78166F3-92C5-8A91-9F71-E5430649D684}"/>
              </a:ext>
            </a:extLst>
          </p:cNvPr>
          <p:cNvSpPr/>
          <p:nvPr/>
        </p:nvSpPr>
        <p:spPr>
          <a:xfrm>
            <a:off x="800100" y="2133600"/>
            <a:ext cx="63500" cy="711200"/>
          </a:xfrm>
          <a:prstGeom prst="rect">
            <a:avLst/>
          </a:prstGeom>
          <a:solidFill>
            <a:srgbClr val="E8B62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0030F5-459E-7BEB-97C2-AC50DCDD9925}"/>
              </a:ext>
            </a:extLst>
          </p:cNvPr>
          <p:cNvSpPr txBox="1"/>
          <p:nvPr/>
        </p:nvSpPr>
        <p:spPr>
          <a:xfrm>
            <a:off x="1016000" y="2260600"/>
            <a:ext cx="5588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nl-NL" sz="1400" b="1">
                <a:solidFill>
                  <a:srgbClr val="07261C"/>
                </a:solidFill>
                <a:latin typeface="Segoe UI" panose="020B0502040204020203" pitchFamily="34" charset="0"/>
              </a:rPr>
              <a:t>Liam, 14 jaar — O15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8BFEF1-F29E-C80F-273B-7E2A006E1D52}"/>
              </a:ext>
            </a:extLst>
          </p:cNvPr>
          <p:cNvSpPr txBox="1"/>
          <p:nvPr/>
        </p:nvSpPr>
        <p:spPr>
          <a:xfrm>
            <a:off x="1016000" y="2514600"/>
            <a:ext cx="5588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nl-NL" sz="1100">
                <a:solidFill>
                  <a:srgbClr val="5A636A"/>
                </a:solidFill>
                <a:latin typeface="Segoe UI" panose="020B0502040204020203" pitchFamily="34" charset="0"/>
              </a:rPr>
              <a:t>Vorig seizoen ingestroomd via een proeftraining · aanvaller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4CE41F5-912B-AC0B-6FE1-94B8AA35CD4D}"/>
              </a:ext>
            </a:extLst>
          </p:cNvPr>
          <p:cNvCxnSpPr/>
          <p:nvPr/>
        </p:nvCxnSpPr>
        <p:spPr>
          <a:xfrm>
            <a:off x="1524000" y="4318000"/>
            <a:ext cx="8534400" cy="0"/>
          </a:xfrm>
          <a:prstGeom prst="line">
            <a:avLst/>
          </a:prstGeom>
          <a:ln w="25400">
            <a:solidFill>
              <a:srgbClr val="E3E6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3B0BD0CB-07F6-7597-6A8D-08DE70E7A4A7}"/>
              </a:ext>
            </a:extLst>
          </p:cNvPr>
          <p:cNvSpPr/>
          <p:nvPr/>
        </p:nvSpPr>
        <p:spPr>
          <a:xfrm>
            <a:off x="1193800" y="3987800"/>
            <a:ext cx="660400" cy="660400"/>
          </a:xfrm>
          <a:prstGeom prst="ellipse">
            <a:avLst/>
          </a:prstGeom>
          <a:solidFill>
            <a:srgbClr val="07261C"/>
          </a:solidFill>
          <a:ln w="31750">
            <a:solidFill>
              <a:srgbClr val="E8B6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D670C4A-B1B9-362E-A32B-394461CFCE6B}"/>
              </a:ext>
            </a:extLst>
          </p:cNvPr>
          <p:cNvSpPr txBox="1"/>
          <p:nvPr/>
        </p:nvSpPr>
        <p:spPr>
          <a:xfrm>
            <a:off x="1193800" y="4152900"/>
            <a:ext cx="660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nl-NL" b="1">
                <a:solidFill>
                  <a:srgbClr val="E8B624"/>
                </a:solidFill>
                <a:latin typeface="Segoe UI" panose="020B0502040204020203" pitchFamily="34" charset="0"/>
              </a:rPr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D319694-9E46-1918-CEB0-3AF6541430CC}"/>
              </a:ext>
            </a:extLst>
          </p:cNvPr>
          <p:cNvSpPr txBox="1"/>
          <p:nvPr/>
        </p:nvSpPr>
        <p:spPr>
          <a:xfrm>
            <a:off x="533400" y="4749800"/>
            <a:ext cx="19812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nl-NL" sz="1300" b="1">
                <a:solidFill>
                  <a:srgbClr val="07261C"/>
                </a:solidFill>
                <a:latin typeface="Segoe UI" panose="020B0502040204020203" pitchFamily="34" charset="0"/>
              </a:rPr>
              <a:t>Instroom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475497B-38F9-5591-1F42-E63642BCA3C1}"/>
              </a:ext>
            </a:extLst>
          </p:cNvPr>
          <p:cNvSpPr txBox="1"/>
          <p:nvPr/>
        </p:nvSpPr>
        <p:spPr>
          <a:xfrm>
            <a:off x="533400" y="5003800"/>
            <a:ext cx="19812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nl-NL" sz="950">
                <a:solidFill>
                  <a:srgbClr val="5A636A"/>
                </a:solidFill>
                <a:latin typeface="Segoe UI" panose="020B0502040204020203" pitchFamily="34" charset="0"/>
              </a:rPr>
              <a:t>Opgevallen, uitgenodigd en na een proeftraining ingestroomd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E357370-67E2-DE15-04E7-E9E7A8889253}"/>
              </a:ext>
            </a:extLst>
          </p:cNvPr>
          <p:cNvSpPr/>
          <p:nvPr/>
        </p:nvSpPr>
        <p:spPr>
          <a:xfrm>
            <a:off x="3327400" y="3987800"/>
            <a:ext cx="660400" cy="660400"/>
          </a:xfrm>
          <a:prstGeom prst="ellipse">
            <a:avLst/>
          </a:prstGeom>
          <a:solidFill>
            <a:srgbClr val="07261C"/>
          </a:solidFill>
          <a:ln w="31750">
            <a:solidFill>
              <a:srgbClr val="E8B6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CE15A9B-7302-F620-DEDA-916A0F5E22D1}"/>
              </a:ext>
            </a:extLst>
          </p:cNvPr>
          <p:cNvSpPr txBox="1"/>
          <p:nvPr/>
        </p:nvSpPr>
        <p:spPr>
          <a:xfrm>
            <a:off x="3327400" y="4152900"/>
            <a:ext cx="660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nl-NL" b="1">
                <a:solidFill>
                  <a:srgbClr val="E8B624"/>
                </a:solidFill>
                <a:latin typeface="Segoe UI" panose="020B0502040204020203" pitchFamily="34" charset="0"/>
              </a:rPr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9601AF8-9D34-1D4C-8902-B1452894CD66}"/>
              </a:ext>
            </a:extLst>
          </p:cNvPr>
          <p:cNvSpPr txBox="1"/>
          <p:nvPr/>
        </p:nvSpPr>
        <p:spPr>
          <a:xfrm>
            <a:off x="2667000" y="4749800"/>
            <a:ext cx="19812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nl-NL" sz="1300" b="1">
                <a:solidFill>
                  <a:srgbClr val="07261C"/>
                </a:solidFill>
                <a:latin typeface="Segoe UI" panose="020B0502040204020203" pitchFamily="34" charset="0"/>
              </a:rPr>
              <a:t>Ontwikkelplan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B703035-B846-AB2F-6266-D7730D74210F}"/>
              </a:ext>
            </a:extLst>
          </p:cNvPr>
          <p:cNvSpPr txBox="1"/>
          <p:nvPr/>
        </p:nvSpPr>
        <p:spPr>
          <a:xfrm>
            <a:off x="2667000" y="5003800"/>
            <a:ext cx="19812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nl-NL" sz="950">
                <a:solidFill>
                  <a:srgbClr val="5A636A"/>
                </a:solidFill>
                <a:latin typeface="Segoe UI" panose="020B0502040204020203" pitchFamily="34" charset="0"/>
              </a:rPr>
              <a:t>Doelen die hij begrijpt, samen met zijn coach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D22D0A81-A731-9F94-6C47-7D4A72E165D9}"/>
              </a:ext>
            </a:extLst>
          </p:cNvPr>
          <p:cNvSpPr/>
          <p:nvPr/>
        </p:nvSpPr>
        <p:spPr>
          <a:xfrm>
            <a:off x="5461000" y="3987800"/>
            <a:ext cx="660400" cy="660400"/>
          </a:xfrm>
          <a:prstGeom prst="ellipse">
            <a:avLst/>
          </a:prstGeom>
          <a:solidFill>
            <a:srgbClr val="07261C"/>
          </a:solidFill>
          <a:ln w="31750">
            <a:solidFill>
              <a:srgbClr val="E8B6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495A94F-6F30-AF91-75ED-46529BB75C02}"/>
              </a:ext>
            </a:extLst>
          </p:cNvPr>
          <p:cNvSpPr txBox="1"/>
          <p:nvPr/>
        </p:nvSpPr>
        <p:spPr>
          <a:xfrm>
            <a:off x="5461000" y="4152900"/>
            <a:ext cx="660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nl-NL" b="1">
                <a:solidFill>
                  <a:srgbClr val="E8B624"/>
                </a:solidFill>
                <a:latin typeface="Segoe UI" panose="020B0502040204020203" pitchFamily="34" charset="0"/>
              </a:rPr>
              <a:t>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11C768B-1DAD-47E1-5E4B-C5BAE7976EBC}"/>
              </a:ext>
            </a:extLst>
          </p:cNvPr>
          <p:cNvSpPr txBox="1"/>
          <p:nvPr/>
        </p:nvSpPr>
        <p:spPr>
          <a:xfrm>
            <a:off x="4800600" y="4749800"/>
            <a:ext cx="19812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nl-NL" sz="1300" b="1">
                <a:solidFill>
                  <a:srgbClr val="07261C"/>
                </a:solidFill>
                <a:latin typeface="Segoe UI" panose="020B0502040204020203" pitchFamily="34" charset="0"/>
              </a:rPr>
              <a:t>Dagelijks werk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976220E-07C6-987B-1581-649197616196}"/>
              </a:ext>
            </a:extLst>
          </p:cNvPr>
          <p:cNvSpPr txBox="1"/>
          <p:nvPr/>
        </p:nvSpPr>
        <p:spPr>
          <a:xfrm>
            <a:off x="4800600" y="5003800"/>
            <a:ext cx="19812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nl-NL" sz="950">
                <a:solidFill>
                  <a:srgbClr val="5A636A"/>
                </a:solidFill>
                <a:latin typeface="Segoe UI" panose="020B0502040204020203" pitchFamily="34" charset="0"/>
              </a:rPr>
              <a:t>Training met een duidelijke bedoeling, elke week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DC58F0A3-DD3E-939D-E800-3AA3A505B958}"/>
              </a:ext>
            </a:extLst>
          </p:cNvPr>
          <p:cNvSpPr/>
          <p:nvPr/>
        </p:nvSpPr>
        <p:spPr>
          <a:xfrm>
            <a:off x="7594600" y="3987800"/>
            <a:ext cx="660400" cy="660400"/>
          </a:xfrm>
          <a:prstGeom prst="ellipse">
            <a:avLst/>
          </a:prstGeom>
          <a:solidFill>
            <a:srgbClr val="07261C"/>
          </a:solidFill>
          <a:ln w="31750">
            <a:solidFill>
              <a:srgbClr val="E8B6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3AFA62B-06FD-EAC0-72EC-F1210C442F17}"/>
              </a:ext>
            </a:extLst>
          </p:cNvPr>
          <p:cNvSpPr txBox="1"/>
          <p:nvPr/>
        </p:nvSpPr>
        <p:spPr>
          <a:xfrm>
            <a:off x="7594600" y="4152900"/>
            <a:ext cx="660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nl-NL" b="1">
                <a:solidFill>
                  <a:srgbClr val="E8B624"/>
                </a:solidFill>
                <a:latin typeface="Segoe UI" panose="020B0502040204020203" pitchFamily="34" charset="0"/>
              </a:rPr>
              <a:t>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3EE9073-335D-FA66-024C-7BB54653ACAA}"/>
              </a:ext>
            </a:extLst>
          </p:cNvPr>
          <p:cNvSpPr txBox="1"/>
          <p:nvPr/>
        </p:nvSpPr>
        <p:spPr>
          <a:xfrm>
            <a:off x="6934200" y="4749800"/>
            <a:ext cx="19812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nl-NL" sz="1300" b="1">
                <a:solidFill>
                  <a:srgbClr val="07261C"/>
                </a:solidFill>
                <a:latin typeface="Segoe UI" panose="020B0502040204020203" pitchFamily="34" charset="0"/>
              </a:rPr>
              <a:t>Wedstrijd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548B0B3-4416-5642-346D-ACFE7B75EA0B}"/>
              </a:ext>
            </a:extLst>
          </p:cNvPr>
          <p:cNvSpPr txBox="1"/>
          <p:nvPr/>
        </p:nvSpPr>
        <p:spPr>
          <a:xfrm>
            <a:off x="6934200" y="5003800"/>
            <a:ext cx="19812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nl-NL" sz="950">
                <a:solidFill>
                  <a:srgbClr val="5A636A"/>
                </a:solidFill>
                <a:latin typeface="Segoe UI" panose="020B0502040204020203" pitchFamily="34" charset="0"/>
              </a:rPr>
              <a:t>Speelminuten en momenten die meetellen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42A0B985-5354-B963-533A-0E7C5D61A093}"/>
              </a:ext>
            </a:extLst>
          </p:cNvPr>
          <p:cNvSpPr/>
          <p:nvPr/>
        </p:nvSpPr>
        <p:spPr>
          <a:xfrm>
            <a:off x="9728200" y="3987800"/>
            <a:ext cx="660400" cy="660400"/>
          </a:xfrm>
          <a:prstGeom prst="ellipse">
            <a:avLst/>
          </a:prstGeom>
          <a:solidFill>
            <a:srgbClr val="07261C"/>
          </a:solidFill>
          <a:ln w="31750">
            <a:solidFill>
              <a:srgbClr val="E8B6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8566209-A393-FD82-0E74-6E7E7678686A}"/>
              </a:ext>
            </a:extLst>
          </p:cNvPr>
          <p:cNvSpPr txBox="1"/>
          <p:nvPr/>
        </p:nvSpPr>
        <p:spPr>
          <a:xfrm>
            <a:off x="9728200" y="4152900"/>
            <a:ext cx="660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nl-NL" b="1">
                <a:solidFill>
                  <a:srgbClr val="E8B624"/>
                </a:solidFill>
                <a:latin typeface="Segoe UI" panose="020B0502040204020203" pitchFamily="34" charset="0"/>
              </a:rPr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6A2DA99-E715-61FB-B681-DC6B0C53DF7D}"/>
              </a:ext>
            </a:extLst>
          </p:cNvPr>
          <p:cNvSpPr txBox="1"/>
          <p:nvPr/>
        </p:nvSpPr>
        <p:spPr>
          <a:xfrm>
            <a:off x="9067800" y="4749800"/>
            <a:ext cx="19812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nl-NL" sz="1300" b="1">
                <a:solidFill>
                  <a:srgbClr val="07261C"/>
                </a:solidFill>
                <a:latin typeface="Segoe UI" panose="020B0502040204020203" pitchFamily="34" charset="0"/>
              </a:rPr>
              <a:t>Voortgang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F69BE1E-7D6B-A257-F12B-ED386DC76DD6}"/>
              </a:ext>
            </a:extLst>
          </p:cNvPr>
          <p:cNvSpPr txBox="1"/>
          <p:nvPr/>
        </p:nvSpPr>
        <p:spPr>
          <a:xfrm>
            <a:off x="9067800" y="5003800"/>
            <a:ext cx="19812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nl-NL" sz="950">
                <a:solidFill>
                  <a:srgbClr val="5A636A"/>
                </a:solidFill>
                <a:latin typeface="Segoe UI" panose="020B0502040204020203" pitchFamily="34" charset="0"/>
              </a:rPr>
              <a:t>Groei zichtbaar door het hele seizoen heen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E4F41AD-8094-B249-7077-F99E17C182DA}"/>
              </a:ext>
            </a:extLst>
          </p:cNvPr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rgbClr val="E8B62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BA3854F-E136-84AB-302D-1B6766B41197}"/>
              </a:ext>
            </a:extLst>
          </p:cNvPr>
          <p:cNvSpPr txBox="1"/>
          <p:nvPr/>
        </p:nvSpPr>
        <p:spPr>
          <a:xfrm>
            <a:off x="800100" y="6553200"/>
            <a:ext cx="635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nl-NL" sz="900">
                <a:solidFill>
                  <a:srgbClr val="5A636A"/>
                </a:solidFill>
                <a:latin typeface="Segoe UI" panose="020B0502040204020203" pitchFamily="34" charset="0"/>
              </a:rPr>
              <a:t>TT   Spelersontwikkeling · JG4IT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D51E148-0DF8-B388-BD6A-9DA3FB5FED26}"/>
              </a:ext>
            </a:extLst>
          </p:cNvPr>
          <p:cNvSpPr txBox="1"/>
          <p:nvPr/>
        </p:nvSpPr>
        <p:spPr>
          <a:xfrm>
            <a:off x="7620000" y="6553200"/>
            <a:ext cx="37719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endParaRPr lang="nl-NL" sz="900">
              <a:solidFill>
                <a:srgbClr val="5A636A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8788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C0A2FE1-4087-E2FA-E037-C44C9D00833B}"/>
              </a:ext>
            </a:extLst>
          </p:cNvPr>
          <p:cNvSpPr txBox="1"/>
          <p:nvPr/>
        </p:nvSpPr>
        <p:spPr>
          <a:xfrm>
            <a:off x="800100" y="558800"/>
            <a:ext cx="8890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nl-NL" sz="1100" b="1">
                <a:solidFill>
                  <a:srgbClr val="145A44"/>
                </a:solidFill>
                <a:latin typeface="Segoe UI" panose="020B0502040204020203" pitchFamily="34" charset="0"/>
              </a:rPr>
              <a:t>WAAROM DIT TELT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C453F0-9DD0-3144-FD05-4869C736A04C}"/>
              </a:ext>
            </a:extLst>
          </p:cNvPr>
          <p:cNvSpPr txBox="1"/>
          <p:nvPr/>
        </p:nvSpPr>
        <p:spPr>
          <a:xfrm>
            <a:off x="762000" y="812800"/>
            <a:ext cx="104140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nl-NL" sz="3200" b="1">
                <a:solidFill>
                  <a:srgbClr val="07261C"/>
                </a:solidFill>
                <a:latin typeface="Segoe UI" panose="020B0502040204020203" pitchFamily="34" charset="0"/>
              </a:rPr>
              <a:t>Waarom structuur telt voor je kind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2134EF6-1F5F-1D11-9B34-5AED313A5C2D}"/>
              </a:ext>
            </a:extLst>
          </p:cNvPr>
          <p:cNvSpPr/>
          <p:nvPr/>
        </p:nvSpPr>
        <p:spPr>
          <a:xfrm>
            <a:off x="800100" y="1905000"/>
            <a:ext cx="9144000" cy="584200"/>
          </a:xfrm>
          <a:prstGeom prst="roundRect">
            <a:avLst>
              <a:gd name="adj" fmla="val 13000"/>
            </a:avLst>
          </a:prstGeom>
          <a:solidFill>
            <a:srgbClr val="F4F6F3"/>
          </a:solidFill>
          <a:ln w="9525">
            <a:solidFill>
              <a:srgbClr val="E3E6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2936948-79B1-76D6-1171-C305FDAF5EE2}"/>
              </a:ext>
            </a:extLst>
          </p:cNvPr>
          <p:cNvSpPr/>
          <p:nvPr/>
        </p:nvSpPr>
        <p:spPr>
          <a:xfrm>
            <a:off x="800100" y="1905000"/>
            <a:ext cx="63500" cy="584200"/>
          </a:xfrm>
          <a:prstGeom prst="rect">
            <a:avLst/>
          </a:prstGeom>
          <a:solidFill>
            <a:srgbClr val="E8B62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4B776D-80D7-4685-28C0-055EB1A911AB}"/>
              </a:ext>
            </a:extLst>
          </p:cNvPr>
          <p:cNvSpPr txBox="1"/>
          <p:nvPr/>
        </p:nvSpPr>
        <p:spPr>
          <a:xfrm>
            <a:off x="1066800" y="2057400"/>
            <a:ext cx="8763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nl-NL" sz="1500">
                <a:solidFill>
                  <a:srgbClr val="14181A"/>
                </a:solidFill>
                <a:latin typeface="Segoe UI" panose="020B0502040204020203" pitchFamily="34" charset="0"/>
              </a:rPr>
              <a:t>Ontwikkeling is een lijn over jaren — niet één beoordeling of één wedstrijd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91EC000-86C7-B484-95DB-C3B57F23BBD3}"/>
              </a:ext>
            </a:extLst>
          </p:cNvPr>
          <p:cNvSpPr/>
          <p:nvPr/>
        </p:nvSpPr>
        <p:spPr>
          <a:xfrm>
            <a:off x="800100" y="2616200"/>
            <a:ext cx="9144000" cy="584200"/>
          </a:xfrm>
          <a:prstGeom prst="roundRect">
            <a:avLst>
              <a:gd name="adj" fmla="val 13000"/>
            </a:avLst>
          </a:prstGeom>
          <a:solidFill>
            <a:srgbClr val="F4F6F3"/>
          </a:solidFill>
          <a:ln w="9525">
            <a:solidFill>
              <a:srgbClr val="E3E6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CF87703-4B8B-8BAB-AAD7-480752B219D2}"/>
              </a:ext>
            </a:extLst>
          </p:cNvPr>
          <p:cNvSpPr/>
          <p:nvPr/>
        </p:nvSpPr>
        <p:spPr>
          <a:xfrm>
            <a:off x="800100" y="2616200"/>
            <a:ext cx="63500" cy="584200"/>
          </a:xfrm>
          <a:prstGeom prst="rect">
            <a:avLst/>
          </a:prstGeom>
          <a:solidFill>
            <a:srgbClr val="E8B62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668C63-8E91-37FA-1DD4-70E98E2C1EFB}"/>
              </a:ext>
            </a:extLst>
          </p:cNvPr>
          <p:cNvSpPr txBox="1"/>
          <p:nvPr/>
        </p:nvSpPr>
        <p:spPr>
          <a:xfrm>
            <a:off x="1066800" y="2768600"/>
            <a:ext cx="8763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nl-NL" sz="1500">
                <a:solidFill>
                  <a:srgbClr val="14181A"/>
                </a:solidFill>
                <a:latin typeface="Segoe UI" panose="020B0502040204020203" pitchFamily="34" charset="0"/>
              </a:rPr>
              <a:t>Wat een coach ziet, mag niet verdwijnen als de coach wisselt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5744306-2AFB-C168-DDEC-06015E1B056F}"/>
              </a:ext>
            </a:extLst>
          </p:cNvPr>
          <p:cNvSpPr/>
          <p:nvPr/>
        </p:nvSpPr>
        <p:spPr>
          <a:xfrm>
            <a:off x="800100" y="3327400"/>
            <a:ext cx="9144000" cy="584200"/>
          </a:xfrm>
          <a:prstGeom prst="roundRect">
            <a:avLst>
              <a:gd name="adj" fmla="val 13000"/>
            </a:avLst>
          </a:prstGeom>
          <a:solidFill>
            <a:srgbClr val="F4F6F3"/>
          </a:solidFill>
          <a:ln w="9525">
            <a:solidFill>
              <a:srgbClr val="E3E6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DF02AAC-46A9-541F-4990-085D076B5E91}"/>
              </a:ext>
            </a:extLst>
          </p:cNvPr>
          <p:cNvSpPr/>
          <p:nvPr/>
        </p:nvSpPr>
        <p:spPr>
          <a:xfrm>
            <a:off x="800100" y="3327400"/>
            <a:ext cx="63500" cy="584200"/>
          </a:xfrm>
          <a:prstGeom prst="rect">
            <a:avLst/>
          </a:prstGeom>
          <a:solidFill>
            <a:srgbClr val="E8B62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5527466-048D-4966-B0A6-59B98236DD57}"/>
              </a:ext>
            </a:extLst>
          </p:cNvPr>
          <p:cNvSpPr txBox="1"/>
          <p:nvPr/>
        </p:nvSpPr>
        <p:spPr>
          <a:xfrm>
            <a:off x="1066800" y="3479800"/>
            <a:ext cx="8763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nl-NL" sz="1500">
                <a:solidFill>
                  <a:srgbClr val="14181A"/>
                </a:solidFill>
                <a:latin typeface="Segoe UI" panose="020B0502040204020203" pitchFamily="34" charset="0"/>
              </a:rPr>
              <a:t>Je kind weet waar het aan werkt — en waarom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D25B9EF6-81E0-595A-7FB5-6C93D1B67149}"/>
              </a:ext>
            </a:extLst>
          </p:cNvPr>
          <p:cNvSpPr/>
          <p:nvPr/>
        </p:nvSpPr>
        <p:spPr>
          <a:xfrm>
            <a:off x="800100" y="4038600"/>
            <a:ext cx="9144000" cy="584200"/>
          </a:xfrm>
          <a:prstGeom prst="roundRect">
            <a:avLst>
              <a:gd name="adj" fmla="val 13000"/>
            </a:avLst>
          </a:prstGeom>
          <a:solidFill>
            <a:srgbClr val="F4F6F3"/>
          </a:solidFill>
          <a:ln w="9525">
            <a:solidFill>
              <a:srgbClr val="E3E6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58A83A7-0B47-9489-E806-CDC7E4C0D87E}"/>
              </a:ext>
            </a:extLst>
          </p:cNvPr>
          <p:cNvSpPr/>
          <p:nvPr/>
        </p:nvSpPr>
        <p:spPr>
          <a:xfrm>
            <a:off x="800100" y="4038600"/>
            <a:ext cx="63500" cy="584200"/>
          </a:xfrm>
          <a:prstGeom prst="rect">
            <a:avLst/>
          </a:prstGeom>
          <a:solidFill>
            <a:srgbClr val="E8B62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EAFE518-5E79-F070-9601-91B343F1F4A5}"/>
              </a:ext>
            </a:extLst>
          </p:cNvPr>
          <p:cNvSpPr txBox="1"/>
          <p:nvPr/>
        </p:nvSpPr>
        <p:spPr>
          <a:xfrm>
            <a:off x="1066800" y="4191000"/>
            <a:ext cx="8763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nl-NL" sz="1500">
                <a:solidFill>
                  <a:srgbClr val="14181A"/>
                </a:solidFill>
                <a:latin typeface="Segoe UI" panose="020B0502040204020203" pitchFamily="34" charset="0"/>
              </a:rPr>
              <a:t>Jij ziet de ontwikkeling, niet alleen de uitslag van zaterdag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1541846-1CF8-3DC4-CD12-C76797851CFF}"/>
              </a:ext>
            </a:extLst>
          </p:cNvPr>
          <p:cNvSpPr txBox="1"/>
          <p:nvPr/>
        </p:nvSpPr>
        <p:spPr>
          <a:xfrm>
            <a:off x="800100" y="4927600"/>
            <a:ext cx="965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nl-NL" b="1">
                <a:solidFill>
                  <a:srgbClr val="145A44"/>
                </a:solidFill>
                <a:latin typeface="Segoe UI" panose="020B0502040204020203" pitchFamily="34" charset="0"/>
              </a:rPr>
              <a:t>De ontwikkeling van je kind verdient een rode draad.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F8DC7CC-5015-BBE4-3788-0296FC3DFBF9}"/>
              </a:ext>
            </a:extLst>
          </p:cNvPr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rgbClr val="E8B62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976D9D9-889F-7E91-D4A8-B315416F8111}"/>
              </a:ext>
            </a:extLst>
          </p:cNvPr>
          <p:cNvSpPr txBox="1"/>
          <p:nvPr/>
        </p:nvSpPr>
        <p:spPr>
          <a:xfrm>
            <a:off x="800100" y="6553200"/>
            <a:ext cx="635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nl-NL" sz="900">
                <a:solidFill>
                  <a:srgbClr val="5A636A"/>
                </a:solidFill>
                <a:latin typeface="Segoe UI" panose="020B0502040204020203" pitchFamily="34" charset="0"/>
              </a:rPr>
              <a:t>TT   Spelersontwikkeling · JG4IT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9A1C699-D1C9-78D7-5207-37DF52406AE6}"/>
              </a:ext>
            </a:extLst>
          </p:cNvPr>
          <p:cNvSpPr txBox="1"/>
          <p:nvPr/>
        </p:nvSpPr>
        <p:spPr>
          <a:xfrm>
            <a:off x="7620000" y="6553200"/>
            <a:ext cx="37719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endParaRPr lang="nl-NL" sz="900">
              <a:solidFill>
                <a:srgbClr val="5A636A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79647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3D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BCC6876-FD84-C344-225C-833CC4BAA4BD}"/>
              </a:ext>
            </a:extLst>
          </p:cNvPr>
          <p:cNvSpPr txBox="1"/>
          <p:nvPr/>
        </p:nvSpPr>
        <p:spPr>
          <a:xfrm>
            <a:off x="800100" y="1905000"/>
            <a:ext cx="8890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nl-NL" sz="1200" b="1">
                <a:solidFill>
                  <a:srgbClr val="E8B624"/>
                </a:solidFill>
                <a:latin typeface="Segoe UI" panose="020B0502040204020203" pitchFamily="34" charset="0"/>
              </a:rPr>
              <a:t>IN ÉÉN ZIN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E18B9E9-1ABB-A38D-307F-1C5D111EA573}"/>
              </a:ext>
            </a:extLst>
          </p:cNvPr>
          <p:cNvSpPr txBox="1"/>
          <p:nvPr/>
        </p:nvSpPr>
        <p:spPr>
          <a:xfrm>
            <a:off x="762000" y="2349500"/>
            <a:ext cx="10668000" cy="98488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nl-NL" sz="3200" b="1">
                <a:solidFill>
                  <a:srgbClr val="FFFFFF"/>
                </a:solidFill>
                <a:latin typeface="Segoe UI" panose="020B0502040204020203" pitchFamily="34" charset="0"/>
              </a:rPr>
              <a:t>Eén centrale plek waar coach, speler en ouder hetzelfde, actuele beeld van de ontwikkeling delen.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56345D-7D8F-475B-3417-34E95089B2F5}"/>
              </a:ext>
            </a:extLst>
          </p:cNvPr>
          <p:cNvSpPr txBox="1"/>
          <p:nvPr/>
        </p:nvSpPr>
        <p:spPr>
          <a:xfrm>
            <a:off x="800100" y="4318000"/>
            <a:ext cx="10668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nl-NL" sz="1300">
                <a:solidFill>
                  <a:srgbClr val="C8D2CD"/>
                </a:solidFill>
                <a:latin typeface="Segoe UI" panose="020B0502040204020203" pitchFamily="34" charset="0"/>
              </a:rPr>
              <a:t>WordPress-plugin · in eigen beheer · gebouwd voor jeugdacademies van 8 tot 80 teams · open source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E4F7014-8085-6EF0-47B7-C045B53DBC62}"/>
              </a:ext>
            </a:extLst>
          </p:cNvPr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rgbClr val="E8B62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A6C94D0-6A30-439B-2B95-C1795BCD6E8D}"/>
              </a:ext>
            </a:extLst>
          </p:cNvPr>
          <p:cNvSpPr txBox="1"/>
          <p:nvPr/>
        </p:nvSpPr>
        <p:spPr>
          <a:xfrm>
            <a:off x="800100" y="6553200"/>
            <a:ext cx="635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nl-NL" sz="900">
                <a:solidFill>
                  <a:srgbClr val="C8D2CD"/>
                </a:solidFill>
                <a:latin typeface="Segoe UI" panose="020B0502040204020203" pitchFamily="34" charset="0"/>
              </a:rPr>
              <a:t>TT   Spelersontwikkeling · JG4IT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95CA50-25CA-567B-FD63-EC3F0C03E1B4}"/>
              </a:ext>
            </a:extLst>
          </p:cNvPr>
          <p:cNvSpPr txBox="1"/>
          <p:nvPr/>
        </p:nvSpPr>
        <p:spPr>
          <a:xfrm>
            <a:off x="7620000" y="6553200"/>
            <a:ext cx="37719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endParaRPr lang="nl-NL" sz="900">
              <a:solidFill>
                <a:srgbClr val="C8D2CD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30927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D18F79C-B73C-D479-7ABE-0F2C6AA5005E}"/>
              </a:ext>
            </a:extLst>
          </p:cNvPr>
          <p:cNvSpPr txBox="1"/>
          <p:nvPr/>
        </p:nvSpPr>
        <p:spPr>
          <a:xfrm>
            <a:off x="800100" y="558800"/>
            <a:ext cx="8890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nl-NL" sz="1100" b="1">
                <a:solidFill>
                  <a:srgbClr val="145A44"/>
                </a:solidFill>
                <a:latin typeface="Segoe UI" panose="020B0502040204020203" pitchFamily="34" charset="0"/>
              </a:rPr>
              <a:t>VIJF ROLLEN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203234-BA05-1674-994D-40DBD8E106F3}"/>
              </a:ext>
            </a:extLst>
          </p:cNvPr>
          <p:cNvSpPr txBox="1"/>
          <p:nvPr/>
        </p:nvSpPr>
        <p:spPr>
          <a:xfrm>
            <a:off x="762000" y="812800"/>
            <a:ext cx="104140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nl-NL" sz="3200" b="1">
                <a:solidFill>
                  <a:srgbClr val="07261C"/>
                </a:solidFill>
                <a:latin typeface="Segoe UI" panose="020B0502040204020203" pitchFamily="34" charset="0"/>
              </a:rPr>
              <a:t>Vijf rollen, vijf perspectieven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2FBF7B-07E9-49FE-80B6-BFC24E0CD40E}"/>
              </a:ext>
            </a:extLst>
          </p:cNvPr>
          <p:cNvSpPr txBox="1"/>
          <p:nvPr/>
        </p:nvSpPr>
        <p:spPr>
          <a:xfrm>
            <a:off x="800100" y="1981200"/>
            <a:ext cx="2921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nl-NL" sz="1600" b="1">
                <a:solidFill>
                  <a:srgbClr val="07261C"/>
                </a:solidFill>
                <a:latin typeface="Segoe UI" panose="020B0502040204020203" pitchFamily="34" charset="0"/>
              </a:rPr>
              <a:t>Hoofd Opleidingen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B08041-3020-F890-9857-77FD5C43E46E}"/>
              </a:ext>
            </a:extLst>
          </p:cNvPr>
          <p:cNvSpPr txBox="1"/>
          <p:nvPr/>
        </p:nvSpPr>
        <p:spPr>
          <a:xfrm>
            <a:off x="3810000" y="2006600"/>
            <a:ext cx="7620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nl-NL" sz="1400">
                <a:solidFill>
                  <a:srgbClr val="5A636A"/>
                </a:solidFill>
                <a:latin typeface="Segoe UI" panose="020B0502040204020203" pitchFamily="34" charset="0"/>
              </a:rPr>
              <a:t>Alle teams en spelers · signaleert waar aandacht nodig is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C1F6B91-9A8B-755B-5DCC-D7396EA20F40}"/>
              </a:ext>
            </a:extLst>
          </p:cNvPr>
          <p:cNvCxnSpPr/>
          <p:nvPr/>
        </p:nvCxnSpPr>
        <p:spPr>
          <a:xfrm>
            <a:off x="800100" y="2463800"/>
            <a:ext cx="10591800" cy="0"/>
          </a:xfrm>
          <a:prstGeom prst="line">
            <a:avLst/>
          </a:prstGeom>
          <a:ln w="12700">
            <a:solidFill>
              <a:srgbClr val="E3E6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C248D9BE-8F9E-B3AE-DAE3-0F1CACA607D3}"/>
              </a:ext>
            </a:extLst>
          </p:cNvPr>
          <p:cNvSpPr txBox="1"/>
          <p:nvPr/>
        </p:nvSpPr>
        <p:spPr>
          <a:xfrm>
            <a:off x="800100" y="2692400"/>
            <a:ext cx="2921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nl-NL" sz="1600" b="1">
                <a:solidFill>
                  <a:srgbClr val="07261C"/>
                </a:solidFill>
                <a:latin typeface="Segoe UI" panose="020B0502040204020203" pitchFamily="34" charset="0"/>
              </a:rPr>
              <a:t>Coach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C5181B5-3FB0-3BCA-5ADE-4694BFD896B4}"/>
              </a:ext>
            </a:extLst>
          </p:cNvPr>
          <p:cNvSpPr txBox="1"/>
          <p:nvPr/>
        </p:nvSpPr>
        <p:spPr>
          <a:xfrm>
            <a:off x="3810000" y="2717800"/>
            <a:ext cx="7620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nl-NL" sz="1400">
                <a:solidFill>
                  <a:srgbClr val="5A636A"/>
                </a:solidFill>
                <a:latin typeface="Segoe UI" panose="020B0502040204020203" pitchFamily="34" charset="0"/>
              </a:rPr>
              <a:t>Eigen team · plant trainingen · beoordeelt na afloop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01D007A-4AC3-114C-3578-0EB9689CA791}"/>
              </a:ext>
            </a:extLst>
          </p:cNvPr>
          <p:cNvCxnSpPr/>
          <p:nvPr/>
        </p:nvCxnSpPr>
        <p:spPr>
          <a:xfrm>
            <a:off x="800100" y="3175000"/>
            <a:ext cx="10591800" cy="0"/>
          </a:xfrm>
          <a:prstGeom prst="line">
            <a:avLst/>
          </a:prstGeom>
          <a:ln w="12700">
            <a:solidFill>
              <a:srgbClr val="E3E6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F0EB65FA-DC0B-28A6-8674-CB1A5D43B76B}"/>
              </a:ext>
            </a:extLst>
          </p:cNvPr>
          <p:cNvSpPr txBox="1"/>
          <p:nvPr/>
        </p:nvSpPr>
        <p:spPr>
          <a:xfrm>
            <a:off x="800100" y="3403600"/>
            <a:ext cx="2921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nl-NL" sz="1600" b="1">
                <a:solidFill>
                  <a:srgbClr val="07261C"/>
                </a:solidFill>
                <a:latin typeface="Segoe UI" panose="020B0502040204020203" pitchFamily="34" charset="0"/>
              </a:rPr>
              <a:t>Scout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B3FEC33-53E1-7796-952C-2C3371057FCC}"/>
              </a:ext>
            </a:extLst>
          </p:cNvPr>
          <p:cNvSpPr txBox="1"/>
          <p:nvPr/>
        </p:nvSpPr>
        <p:spPr>
          <a:xfrm>
            <a:off x="3810000" y="3429000"/>
            <a:ext cx="7620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nl-NL" sz="1400">
                <a:solidFill>
                  <a:srgbClr val="5A636A"/>
                </a:solidFill>
                <a:latin typeface="Segoe UI" panose="020B0502040204020203" pitchFamily="34" charset="0"/>
              </a:rPr>
              <a:t>Proeftrainingen · scoutrapporten · terugkoppeling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CD586E0-7DE6-C9CF-3080-B3A8AEC1DA7A}"/>
              </a:ext>
            </a:extLst>
          </p:cNvPr>
          <p:cNvCxnSpPr/>
          <p:nvPr/>
        </p:nvCxnSpPr>
        <p:spPr>
          <a:xfrm>
            <a:off x="800100" y="3886200"/>
            <a:ext cx="10591800" cy="0"/>
          </a:xfrm>
          <a:prstGeom prst="line">
            <a:avLst/>
          </a:prstGeom>
          <a:ln w="12700">
            <a:solidFill>
              <a:srgbClr val="E3E6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F21DA847-517E-7111-935B-5A5BB9D7C6E9}"/>
              </a:ext>
            </a:extLst>
          </p:cNvPr>
          <p:cNvSpPr txBox="1"/>
          <p:nvPr/>
        </p:nvSpPr>
        <p:spPr>
          <a:xfrm>
            <a:off x="800100" y="4114800"/>
            <a:ext cx="2921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nl-NL" sz="1600" b="1">
                <a:solidFill>
                  <a:srgbClr val="07261C"/>
                </a:solidFill>
                <a:latin typeface="Segoe UI" panose="020B0502040204020203" pitchFamily="34" charset="0"/>
              </a:rPr>
              <a:t>Speler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EE406A6-E64E-595B-8D93-94F7011852AF}"/>
              </a:ext>
            </a:extLst>
          </p:cNvPr>
          <p:cNvSpPr txBox="1"/>
          <p:nvPr/>
        </p:nvSpPr>
        <p:spPr>
          <a:xfrm>
            <a:off x="3810000" y="4140200"/>
            <a:ext cx="7620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nl-NL" sz="1400">
                <a:solidFill>
                  <a:srgbClr val="5A636A"/>
                </a:solidFill>
                <a:latin typeface="Segoe UI" panose="020B0502040204020203" pitchFamily="34" charset="0"/>
              </a:rPr>
              <a:t>Eigen profiel · eigen doelen · eigen voortgang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4FFA07A-E51F-A90D-7CFC-B43B88DEEEE6}"/>
              </a:ext>
            </a:extLst>
          </p:cNvPr>
          <p:cNvCxnSpPr/>
          <p:nvPr/>
        </p:nvCxnSpPr>
        <p:spPr>
          <a:xfrm>
            <a:off x="800100" y="4597400"/>
            <a:ext cx="10591800" cy="0"/>
          </a:xfrm>
          <a:prstGeom prst="line">
            <a:avLst/>
          </a:prstGeom>
          <a:ln w="12700">
            <a:solidFill>
              <a:srgbClr val="E3E6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54D01E2A-E11E-FBDA-E3C0-87D220A95AC1}"/>
              </a:ext>
            </a:extLst>
          </p:cNvPr>
          <p:cNvSpPr txBox="1"/>
          <p:nvPr/>
        </p:nvSpPr>
        <p:spPr>
          <a:xfrm>
            <a:off x="800100" y="4826000"/>
            <a:ext cx="2921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nl-NL" sz="1600" b="1">
                <a:solidFill>
                  <a:srgbClr val="07261C"/>
                </a:solidFill>
                <a:latin typeface="Segoe UI" panose="020B0502040204020203" pitchFamily="34" charset="0"/>
              </a:rPr>
              <a:t>Ouder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0404C55-C020-1302-BA32-826667CACBDA}"/>
              </a:ext>
            </a:extLst>
          </p:cNvPr>
          <p:cNvSpPr txBox="1"/>
          <p:nvPr/>
        </p:nvSpPr>
        <p:spPr>
          <a:xfrm>
            <a:off x="3810000" y="4851400"/>
            <a:ext cx="7620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nl-NL" sz="1400">
                <a:solidFill>
                  <a:srgbClr val="5A636A"/>
                </a:solidFill>
                <a:latin typeface="Segoe UI" panose="020B0502040204020203" pitchFamily="34" charset="0"/>
              </a:rPr>
              <a:t>Wat je kind doet · hoe het ervoor staat · veilig en privé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D1981E8-69D1-3A7D-554A-333C5803C6FD}"/>
              </a:ext>
            </a:extLst>
          </p:cNvPr>
          <p:cNvCxnSpPr/>
          <p:nvPr/>
        </p:nvCxnSpPr>
        <p:spPr>
          <a:xfrm>
            <a:off x="800100" y="5308600"/>
            <a:ext cx="10591800" cy="0"/>
          </a:xfrm>
          <a:prstGeom prst="line">
            <a:avLst/>
          </a:prstGeom>
          <a:ln w="12700">
            <a:solidFill>
              <a:srgbClr val="E3E6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9D10E094-7DD1-84A5-F0BC-73C71E3E7DAB}"/>
              </a:ext>
            </a:extLst>
          </p:cNvPr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rgbClr val="E8B62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40852C8-4D1B-E140-19C5-8A41845D0085}"/>
              </a:ext>
            </a:extLst>
          </p:cNvPr>
          <p:cNvSpPr txBox="1"/>
          <p:nvPr/>
        </p:nvSpPr>
        <p:spPr>
          <a:xfrm>
            <a:off x="800100" y="6553200"/>
            <a:ext cx="635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nl-NL" sz="900">
                <a:solidFill>
                  <a:srgbClr val="5A636A"/>
                </a:solidFill>
                <a:latin typeface="Segoe UI" panose="020B0502040204020203" pitchFamily="34" charset="0"/>
              </a:rPr>
              <a:t>TT   Spelersontwikkeling · JG4IT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7A10A3B-8D63-C16F-722B-2DDD3B5DDADB}"/>
              </a:ext>
            </a:extLst>
          </p:cNvPr>
          <p:cNvSpPr txBox="1"/>
          <p:nvPr/>
        </p:nvSpPr>
        <p:spPr>
          <a:xfrm>
            <a:off x="7620000" y="6553200"/>
            <a:ext cx="37719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endParaRPr lang="nl-NL" sz="900">
              <a:solidFill>
                <a:srgbClr val="5A636A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49153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593B57D-C5F0-EA08-91D2-51699F7ADF95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886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72666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96E024A-5ED3-7F64-608F-487FC79C3A59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37003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9CE1767-6E61-C030-6740-840E0AE1306F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91435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E908793-9A05-D419-30FC-5CB9761F63A3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58925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77D636C-5B97-40F4-A6AB-A0618B2B590F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96858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BB4B89B-3F3C-B9C9-9EA8-AED37283699F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93546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73976F4-A302-2142-B28E-DCEB5B112795}"/>
              </a:ext>
            </a:extLst>
          </p:cNvPr>
          <p:cNvSpPr txBox="1"/>
          <p:nvPr/>
        </p:nvSpPr>
        <p:spPr>
          <a:xfrm>
            <a:off x="800100" y="508000"/>
            <a:ext cx="8890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nl-NL" sz="1100" b="1">
                <a:solidFill>
                  <a:srgbClr val="145A44"/>
                </a:solidFill>
                <a:latin typeface="Segoe UI" panose="020B0502040204020203" pitchFamily="34" charset="0"/>
              </a:rPr>
              <a:t>VOOR JOU &amp; JE KIND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309BE5-0231-FC53-48D6-4AE81BB11DEF}"/>
              </a:ext>
            </a:extLst>
          </p:cNvPr>
          <p:cNvSpPr txBox="1"/>
          <p:nvPr/>
        </p:nvSpPr>
        <p:spPr>
          <a:xfrm>
            <a:off x="762000" y="762000"/>
            <a:ext cx="10668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nl-NL" sz="3000" b="1">
                <a:solidFill>
                  <a:srgbClr val="07261C"/>
                </a:solidFill>
                <a:latin typeface="Segoe UI" panose="020B0502040204020203" pitchFamily="34" charset="0"/>
              </a:rPr>
              <a:t>Wat betekent dit voor jou en je kind?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241E314-D886-C911-0DDF-41E9BDAAB919}"/>
              </a:ext>
            </a:extLst>
          </p:cNvPr>
          <p:cNvSpPr/>
          <p:nvPr/>
        </p:nvSpPr>
        <p:spPr>
          <a:xfrm>
            <a:off x="800100" y="1524000"/>
            <a:ext cx="5080000" cy="317500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9525">
            <a:solidFill>
              <a:srgbClr val="E3E6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AAA598A-0D4A-B165-20CD-5E0DFBB1E795}"/>
              </a:ext>
            </a:extLst>
          </p:cNvPr>
          <p:cNvSpPr/>
          <p:nvPr/>
        </p:nvSpPr>
        <p:spPr>
          <a:xfrm>
            <a:off x="800100" y="1524000"/>
            <a:ext cx="5080000" cy="508000"/>
          </a:xfrm>
          <a:prstGeom prst="roundRect">
            <a:avLst>
              <a:gd name="adj" fmla="val 13000"/>
            </a:avLst>
          </a:prstGeom>
          <a:solidFill>
            <a:srgbClr val="07261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0877B1-966A-9A30-F60F-39E22D998590}"/>
              </a:ext>
            </a:extLst>
          </p:cNvPr>
          <p:cNvSpPr txBox="1"/>
          <p:nvPr/>
        </p:nvSpPr>
        <p:spPr>
          <a:xfrm>
            <a:off x="1028700" y="1625600"/>
            <a:ext cx="4572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nl-NL" sz="1700" b="1" dirty="0">
                <a:solidFill>
                  <a:srgbClr val="FFFFFF"/>
                </a:solidFill>
                <a:latin typeface="Segoe UI" panose="020B0502040204020203" pitchFamily="34" charset="0"/>
              </a:rPr>
              <a:t>Voor de speler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8C3729-44FE-A746-6BE9-C7ABFE2ADDCC}"/>
              </a:ext>
            </a:extLst>
          </p:cNvPr>
          <p:cNvSpPr txBox="1"/>
          <p:nvPr/>
        </p:nvSpPr>
        <p:spPr>
          <a:xfrm>
            <a:off x="1028700" y="2184400"/>
            <a:ext cx="4622800" cy="97552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25000"/>
              </a:lnSpc>
            </a:pPr>
            <a:r>
              <a:rPr lang="nl-NL" sz="1300" dirty="0">
                <a:solidFill>
                  <a:srgbClr val="14181A"/>
                </a:solidFill>
                <a:latin typeface="Segoe UI" panose="020B0502040204020203" pitchFamily="34" charset="0"/>
              </a:rPr>
              <a:t>•  Eigen doelen die je begrijpt — geen vage opmerkingen</a:t>
            </a:r>
          </a:p>
          <a:p>
            <a:pPr>
              <a:lnSpc>
                <a:spcPct val="125000"/>
              </a:lnSpc>
            </a:pPr>
            <a:r>
              <a:rPr lang="nl-NL" sz="1300" dirty="0">
                <a:solidFill>
                  <a:srgbClr val="14181A"/>
                </a:solidFill>
                <a:latin typeface="Segoe UI" panose="020B0502040204020203" pitchFamily="34" charset="0"/>
              </a:rPr>
              <a:t>•  Je weet waar je aan werkt, en waarom</a:t>
            </a:r>
          </a:p>
          <a:p>
            <a:pPr>
              <a:lnSpc>
                <a:spcPct val="125000"/>
              </a:lnSpc>
            </a:pPr>
            <a:r>
              <a:rPr lang="nl-NL" sz="1300" dirty="0">
                <a:solidFill>
                  <a:srgbClr val="14181A"/>
                </a:solidFill>
                <a:latin typeface="Segoe UI" panose="020B0502040204020203" pitchFamily="34" charset="0"/>
              </a:rPr>
              <a:t>•  Je ziet je ontwikkeling groeien, niet alleen de uitslag</a:t>
            </a:r>
          </a:p>
          <a:p>
            <a:pPr>
              <a:lnSpc>
                <a:spcPct val="125000"/>
              </a:lnSpc>
            </a:pPr>
            <a:r>
              <a:rPr lang="nl-NL" sz="1300" dirty="0">
                <a:solidFill>
                  <a:srgbClr val="14181A"/>
                </a:solidFill>
                <a:latin typeface="Segoe UI" panose="020B0502040204020203" pitchFamily="34" charset="0"/>
              </a:rPr>
              <a:t>•  Eerlijke, opbouwende feedback van je coach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E9ECC06-0F2D-74C0-30F0-0FC3262DBED9}"/>
              </a:ext>
            </a:extLst>
          </p:cNvPr>
          <p:cNvSpPr/>
          <p:nvPr/>
        </p:nvSpPr>
        <p:spPr>
          <a:xfrm>
            <a:off x="6311900" y="1524000"/>
            <a:ext cx="5080000" cy="317500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9525">
            <a:solidFill>
              <a:srgbClr val="E3E6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83CE0B0-FD0C-8CBB-5BE4-793D0C2CD141}"/>
              </a:ext>
            </a:extLst>
          </p:cNvPr>
          <p:cNvSpPr/>
          <p:nvPr/>
        </p:nvSpPr>
        <p:spPr>
          <a:xfrm>
            <a:off x="6311900" y="1524000"/>
            <a:ext cx="5080000" cy="508000"/>
          </a:xfrm>
          <a:prstGeom prst="roundRect">
            <a:avLst>
              <a:gd name="adj" fmla="val 13000"/>
            </a:avLst>
          </a:prstGeom>
          <a:solidFill>
            <a:srgbClr val="07261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C866A18-A484-AA0C-F915-8658005CBE82}"/>
              </a:ext>
            </a:extLst>
          </p:cNvPr>
          <p:cNvSpPr txBox="1"/>
          <p:nvPr/>
        </p:nvSpPr>
        <p:spPr>
          <a:xfrm>
            <a:off x="6540500" y="1625600"/>
            <a:ext cx="4572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nl-NL" sz="1700" b="1">
                <a:solidFill>
                  <a:srgbClr val="FFFFFF"/>
                </a:solidFill>
                <a:latin typeface="Segoe UI" panose="020B0502040204020203" pitchFamily="34" charset="0"/>
              </a:rPr>
              <a:t>Voor de ouder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03AD7F3-7C48-7C11-EC27-4988AFC6CA8F}"/>
              </a:ext>
            </a:extLst>
          </p:cNvPr>
          <p:cNvSpPr txBox="1"/>
          <p:nvPr/>
        </p:nvSpPr>
        <p:spPr>
          <a:xfrm>
            <a:off x="6540500" y="2184400"/>
            <a:ext cx="4622800" cy="97552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25000"/>
              </a:lnSpc>
            </a:pPr>
            <a:r>
              <a:rPr lang="nl-NL" sz="1300">
                <a:solidFill>
                  <a:srgbClr val="14181A"/>
                </a:solidFill>
                <a:latin typeface="Segoe UI" panose="020B0502040204020203" pitchFamily="34" charset="0"/>
              </a:rPr>
              <a:t>•  Zicht op de ontwikkeling, niet alleen zaterdag</a:t>
            </a:r>
          </a:p>
          <a:p>
            <a:pPr>
              <a:lnSpc>
                <a:spcPct val="125000"/>
              </a:lnSpc>
            </a:pPr>
            <a:r>
              <a:rPr lang="nl-NL" sz="1300">
                <a:solidFill>
                  <a:srgbClr val="14181A"/>
                </a:solidFill>
                <a:latin typeface="Segoe UI" panose="020B0502040204020203" pitchFamily="34" charset="0"/>
              </a:rPr>
              <a:t>•  Eén plek voor het hele verhaal van je kind</a:t>
            </a:r>
          </a:p>
          <a:p>
            <a:pPr>
              <a:lnSpc>
                <a:spcPct val="125000"/>
              </a:lnSpc>
            </a:pPr>
            <a:r>
              <a:rPr lang="nl-NL" sz="1300">
                <a:solidFill>
                  <a:srgbClr val="14181A"/>
                </a:solidFill>
                <a:latin typeface="Segoe UI" panose="020B0502040204020203" pitchFamily="34" charset="0"/>
              </a:rPr>
              <a:t>•  Makkelijker in gesprek met de coach over de groei</a:t>
            </a:r>
          </a:p>
          <a:p>
            <a:pPr>
              <a:lnSpc>
                <a:spcPct val="125000"/>
              </a:lnSpc>
            </a:pPr>
            <a:r>
              <a:rPr lang="nl-NL" sz="1300">
                <a:solidFill>
                  <a:srgbClr val="14181A"/>
                </a:solidFill>
                <a:latin typeface="Segoe UI" panose="020B0502040204020203" pitchFamily="34" charset="0"/>
              </a:rPr>
              <a:t>•  Continuïteit — ook als de coach wisselt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75C419A-05CB-8362-5B8A-6A60CFA53F28}"/>
              </a:ext>
            </a:extLst>
          </p:cNvPr>
          <p:cNvSpPr/>
          <p:nvPr/>
        </p:nvSpPr>
        <p:spPr>
          <a:xfrm>
            <a:off x="800100" y="4927600"/>
            <a:ext cx="10591800" cy="711200"/>
          </a:xfrm>
          <a:prstGeom prst="roundRect">
            <a:avLst>
              <a:gd name="adj" fmla="val 13000"/>
            </a:avLst>
          </a:prstGeom>
          <a:solidFill>
            <a:srgbClr val="F4F6F3"/>
          </a:solidFill>
          <a:ln w="9525">
            <a:solidFill>
              <a:srgbClr val="E3E6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AB0F7AC-A6F1-DD58-5836-3BF3623866BE}"/>
              </a:ext>
            </a:extLst>
          </p:cNvPr>
          <p:cNvSpPr/>
          <p:nvPr/>
        </p:nvSpPr>
        <p:spPr>
          <a:xfrm>
            <a:off x="800100" y="4927600"/>
            <a:ext cx="63500" cy="711200"/>
          </a:xfrm>
          <a:prstGeom prst="rect">
            <a:avLst/>
          </a:prstGeom>
          <a:solidFill>
            <a:srgbClr val="E8B62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06FA13B-6CBE-F7C8-0127-1E8841B37DCB}"/>
              </a:ext>
            </a:extLst>
          </p:cNvPr>
          <p:cNvSpPr txBox="1"/>
          <p:nvPr/>
        </p:nvSpPr>
        <p:spPr>
          <a:xfrm>
            <a:off x="1066800" y="5054600"/>
            <a:ext cx="10287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nl-NL" sz="1200">
                <a:solidFill>
                  <a:srgbClr val="5A636A"/>
                </a:solidFill>
                <a:latin typeface="Segoe UI" panose="020B0502040204020203" pitchFamily="34" charset="0"/>
              </a:rPr>
              <a:t>Veilig &amp; privé. Gevoelige gegevens (medisch, welzijn) zijn afgeschermd en alleen zichtbaar voor wie ze hoort te zien. We gaan zorgvuldig om met de gegevens van minderjarigen.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5D3A60B-7506-AE7F-2EA2-09D2B446449C}"/>
              </a:ext>
            </a:extLst>
          </p:cNvPr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rgbClr val="E8B62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898DF94-DD8E-A14B-3CC7-C5AAEBA848DB}"/>
              </a:ext>
            </a:extLst>
          </p:cNvPr>
          <p:cNvSpPr txBox="1"/>
          <p:nvPr/>
        </p:nvSpPr>
        <p:spPr>
          <a:xfrm>
            <a:off x="800100" y="6553200"/>
            <a:ext cx="635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nl-NL" sz="900">
                <a:solidFill>
                  <a:srgbClr val="5A636A"/>
                </a:solidFill>
                <a:latin typeface="Segoe UI" panose="020B0502040204020203" pitchFamily="34" charset="0"/>
              </a:rPr>
              <a:t>TT   Spelersontwikkeling · JG4IT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624DCFD-CE27-E8CB-3564-6C92F966EE54}"/>
              </a:ext>
            </a:extLst>
          </p:cNvPr>
          <p:cNvSpPr txBox="1"/>
          <p:nvPr/>
        </p:nvSpPr>
        <p:spPr>
          <a:xfrm>
            <a:off x="7620000" y="6553200"/>
            <a:ext cx="37719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endParaRPr lang="nl-NL" sz="900">
              <a:solidFill>
                <a:srgbClr val="5A636A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65126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648</Words>
  <Application>Microsoft Office PowerPoint</Application>
  <PresentationFormat>Widescreen</PresentationFormat>
  <Paragraphs>106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Casper Nieuwenhuizen</dc:creator>
  <cp:lastModifiedBy>Casper Nieuwenhuizen</cp:lastModifiedBy>
  <cp:revision>2</cp:revision>
  <dcterms:created xsi:type="dcterms:W3CDTF">2026-06-23T19:01:53Z</dcterms:created>
  <dcterms:modified xsi:type="dcterms:W3CDTF">2026-06-23T19:52:49Z</dcterms:modified>
</cp:coreProperties>
</file>